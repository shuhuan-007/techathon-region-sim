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14232B', position: 'relative', overflow: 'hidden' }}&gt;&#10;  &lt;Image src=&quot;assets/cover_board.png&quot; style={{ position: 'absolute', left: 0, top: 0, width: 1280, height: 720, objectFit: 'cover' }} /&gt;&#10;  &lt;Box style={{ position: 'absolute', left: 0, top: 0, width: 1280, height: 720, background: 'linear-gradient(90deg, rgba(20,35,43,0.97) 0%, rgba(20,35,43,0.94) 34%, rgba(20,35,43,0.62) 62%, rgba(20,35,43,0.22) 100%)' }} /&gt;&#10;  &lt;Box style={{ position: 'absolute', left: 72, top: 108, width: 660, flexDirection: 'column', gap: 20 }}&gt;&#10;    &lt;Text style={{ fontSize: 14, letterSpacing: 5, color: 'rgba(244,240,230,0.62)', fontFamily: &quot;'Microsoft YaHei', 'PingFang SC', sans-serif&quot; }}&gt;TECHATHON 2026 · 经营桌游提案&lt;/Text&gt;&#10;    &lt;Text style={{ fontSize: 72, fontWeight: 'bold', color: '#F4F0E6', fontFamily: &quot;Georgia, 'Source Han Serif SC', SimSun, serif&quot;, lineHeight: 1.12 }}&gt;区域发展模拟&lt;/Text&gt;&#10;    &lt;Box style={{ width: 64, height: 5, background: 'linear-gradient(120deg, #D9622B 0%, #B84A1E 100%)' }} /&gt;&#10;    &lt;Text style={{ fontSize: 24, color: 'rgba(244,240,230,0.9)', lineHeight: 1.6, fontFamily: &quot;'Microsoft YaHei', 'PingFang SC', sans-serif&quot; }}&gt;&#10;      一款算不清的经营桌游，&lt;br /&gt;和一位替你算账的秘书。&#10;    &lt;/Text&gt;&#10;    &lt;Box style={{ flexDirection: 'row', gap: 16, marginTop: 10, alignItems: 'stretch' }}&gt;&#10;      &lt;Box style={{ background: 'rgba(244,240,230,0.07)', border: '1px solid rgba(244,240,230,0.25)', padding: '12px 18px', flexDirection: 'column', gap: 4, width: 350 }}&gt;&#10;        &lt;Text style={{ fontSize: 12, letterSpacing: 3, color: 'rgba(244,240,230,0.55)' }}&gt;GITHUB · 完整代码开源&lt;/Text&gt;&#10;        &lt;Text style={{ fontSize: 14.5, color: '#F4F0E6', fontFamily: 'Consolas, monospace' }}&gt;github.com/shuhuan-007/&lt;/Text&gt;&#10;        &lt;Text style={{ fontSize: 14.5, color: '#F4F0E6', fontFamily: 'Consolas, monospace' }}&gt;techathon-region-sim&lt;/Text&gt;&#10;      &lt;/Box&gt;&#10;      &lt;Box style={{ background: 'rgba(244,240,230,0.07)', border: '1px solid rgba(244,240,230,0.25)', padding: '12px 18px', flexDirection: 'column', gap: 4, width: 250 }}&gt;&#10;        &lt;Text style={{ fontSize: 12, letterSpacing: 3, color: 'rgba(244,240,230,0.55)' }}&gt;TEAM · 队伍成员&lt;/Text&gt;&#10;        &lt;Text style={{ fontSize: 15.5, color: '#F4F0E6', lineHeight: 1.5 }}&gt;贾乐萱 等&lt;/Text&gt;&#10;        &lt;Text style={{ fontSize: 12.5, color: 'rgba(244,240,230,0.5)' }}&gt;（名单待补全）&lt;/Text&gt;&#10;      &lt;/Box&gt;&#10;    &lt;/Box&gt;&#10;  &lt;/Box&gt;&#10;  &lt;Box style={{ position: 'absolute', left: 72, bottom: 42, flexDirection: 'row', alignItems: 'center', gap: 12 }}&gt;&#10;    &lt;Box style={{ width: 22, height: 22, background: '#D9622B' }} /&gt;&#10;    &lt;Text style={{ fontSize: 13, letterSpacing: 2, color: 'rgba(244,240,230,0.55)', fontFamily: &quot;'Microsoft YaHei', 'PingFang SC', sans-serif&quot; }}&gt;REGION SIM · 2026.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2860"/>
            <a:ext cx="11334115" cy="6812915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-635" y="0"/>
            <a:ext cx="12192000" cy="6858000"/>
          </a:xfrm>
          <a:prstGeom prst="rect">
            <a:avLst/>
          </a:prstGeom>
          <a:gradFill>
            <a:gsLst>
              <a:gs pos="0">
                <a:srgbClr val="14232B">
                  <a:alpha val="97000"/>
                </a:srgbClr>
              </a:gs>
              <a:gs pos="34000">
                <a:srgbClr val="14232B">
                  <a:alpha val="92000"/>
                </a:srgbClr>
              </a:gs>
              <a:gs pos="62000">
                <a:srgbClr val="14232B">
                  <a:alpha val="55000"/>
                </a:srgbClr>
              </a:gs>
              <a:gs pos="100000">
                <a:srgbClr val="14232B">
                  <a:alpha val="18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685800" y="1028700"/>
            <a:ext cx="6286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75">
                <a:solidFill>
                  <a:srgbClr val="F4F0E6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TECHATHON 2026 · </a:t>
            </a:r>
            <a:r>
              <a:rPr lang="zh-CN" sz="1050" spc="375">
                <a:solidFill>
                  <a:srgbClr val="F4F0E6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经营桌游提案</a:t>
            </a:r>
            <a:endParaRPr lang="zh-CN" sz="1050" spc="375">
              <a:solidFill>
                <a:srgbClr val="F4F0E6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685800" y="1381125"/>
            <a:ext cx="6286500" cy="923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40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区域发展模拟</a:t>
            </a:r>
            <a:endParaRPr lang="zh-CN" sz="540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5800" y="2495550"/>
            <a:ext cx="609600" cy="47625"/>
          </a:xfrm>
          <a:prstGeom prst="rect">
            <a:avLst/>
          </a:prstGeom>
          <a:gradFill>
            <a:gsLst>
              <a:gs pos="0">
                <a:srgbClr val="D9622B"/>
              </a:gs>
              <a:gs pos="100000">
                <a:srgbClr val="B84A1E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685800" y="2733675"/>
            <a:ext cx="6286500" cy="885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F4F0E6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一款算不清的经营桌游，</a:t>
            </a:r>
            <a:endParaRPr lang="zh-CN" sz="1800">
              <a:solidFill>
                <a:srgbClr val="F4F0E6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800">
                <a:solidFill>
                  <a:srgbClr val="F4F0E6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和一位替你算账的秘书。</a:t>
            </a:r>
            <a:endParaRPr lang="zh-CN" sz="1800">
              <a:solidFill>
                <a:srgbClr val="F4F0E6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5800" y="3905250"/>
            <a:ext cx="3333750" cy="857250"/>
          </a:xfrm>
          <a:prstGeom prst="rect">
            <a:avLst/>
          </a:prstGeom>
          <a:solidFill>
            <a:srgbClr val="F4F0E6">
              <a:alpha val="7000"/>
            </a:srgbClr>
          </a:solidFill>
          <a:ln w="12700">
            <a:solidFill>
              <a:srgbClr val="F4F0E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57250" y="4019550"/>
            <a:ext cx="2990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GITHUB · </a:t>
            </a:r>
            <a:r>
              <a:rPr lang="zh-CN" sz="900" spc="22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完整代码开源</a:t>
            </a:r>
            <a:endParaRPr lang="zh-CN" sz="900" spc="22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857250" y="4200525"/>
            <a:ext cx="2990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>
                <a:solidFill>
                  <a:srgbClr val="F4F0E6"/>
                </a:solidFill>
                <a:latin typeface="Consolas" panose="020B0609020204030204"/>
                <a:ea typeface="Consolas" panose="020B0609020204030204"/>
              </a:rPr>
              <a:t>github.com/shuhuan-007/</a:t>
            </a:r>
            <a:endParaRPr lang="en-US" sz="1090">
              <a:solidFill>
                <a:srgbClr val="F4F0E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857250" y="4410075"/>
            <a:ext cx="2990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>
                <a:solidFill>
                  <a:srgbClr val="F4F0E6"/>
                </a:solidFill>
                <a:latin typeface="Consolas" panose="020B0609020204030204"/>
                <a:ea typeface="Consolas" panose="020B0609020204030204"/>
              </a:rPr>
              <a:t>techathon-region-sim</a:t>
            </a:r>
            <a:endParaRPr lang="en-US" sz="1090">
              <a:solidFill>
                <a:srgbClr val="F4F0E6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1950" y="3905250"/>
            <a:ext cx="2381250" cy="857250"/>
          </a:xfrm>
          <a:prstGeom prst="rect">
            <a:avLst/>
          </a:prstGeom>
          <a:solidFill>
            <a:srgbClr val="F4F0E6">
              <a:alpha val="7000"/>
            </a:srgbClr>
          </a:solidFill>
          <a:ln w="12700">
            <a:solidFill>
              <a:srgbClr val="F4F0E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343400" y="4019550"/>
            <a:ext cx="2038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· </a:t>
            </a:r>
            <a:r>
              <a:rPr lang="zh-CN" sz="900" spc="22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队伍成员</a:t>
            </a:r>
            <a:endParaRPr lang="zh-CN" sz="900" spc="22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343400" y="4200525"/>
            <a:ext cx="20383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王子铖</a:t>
            </a:r>
            <a:r>
              <a:rPr lang="en-US" altLang="zh-CN" sz="116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6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贾乐萱</a:t>
            </a:r>
            <a:r>
              <a:rPr lang="en-US" sz="116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16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李佳怡</a:t>
            </a:r>
            <a:endParaRPr lang="zh-CN" altLang="en-US" sz="1165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5800" y="6248400"/>
            <a:ext cx="209550" cy="20955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1009650" y="6276975"/>
            <a:ext cx="1695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REGION SIM · 2026.10</a:t>
            </a:r>
            <a:endParaRPr lang="en-US" sz="975" spc="150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 descr="&lt;Slide style={{ width: 1280, height: 720, background: '#14232B', position: 'relative', overflow: 'hidden' }}&gt;&#10;  &lt;Box style={{ position: 'absolute', left: 0, top: 0, width: 1280, height: 720, background: 'linear-gradient(160deg, #14232B 0%, #1E3540 100%)' }} /&gt;&#10;  &lt;svg width={1280} height={720} viewBox='0 0 1280 720' style={{ position: 'absolute', left: 0, top: 0 }}&gt;&#10;    {[120, 240, 360, 480, 600, 720, 840, 960, 1080, 1200].map(x =&gt; (&#10;      &lt;line key={'v'+x} x1={x} y1={0} x2={x} y2={720} stroke='rgba(244,240,230,0.05)' strokeWidth={1} /&gt;&#10;    ))}&#10;    {[120, 240, 360, 480, 600].map(y =&gt; (&#10;      &lt;line key={'h'+y} x1={0} y1={y} x2={1280} y2={y} stroke='rgba(244,240,230,0.05)' strokeWidth={1} /&gt;&#10;    ))}&#10;  &lt;/svg&gt;&#10;  &lt;Text style={{ position: 'absolute', right: 64, top: 96, fontSize: 320, fontWeight: 'bold', fontFamily: 'Georgia, serif', color: 'rgba(244,240,230,0.09)', lineHeight: 1 }}&gt;01&lt;/Text&gt;&#10;  &lt;Box style={{ position: 'absolute', left: 72, top: 150, width: 640, flexDirection: 'column', gap: 22 }}&gt;&#10;    &lt;Text style={{ fontSize: 14, letterSpacing: 5, color: 'rgba(244,240,230,0.55)' }}&gt;第一章 · CHAPTER 01&lt;/Text&gt;&#10;    &lt;Text style={{ fontSize: 66, fontWeight: 'bold', color: '#F4F0E6', fontFamily: &quot;Georgia, 'Source Han Serif SC', SimSun, serif&quot; }}&gt;两难&lt;/Text&gt;&#10;    &lt;Box style={{ width: 56, height: 4, background: '#D9622B' }} /&gt;&#10;    &lt;Text style={{ fontSize: 24, color: 'rgba(244,240,230,0.82)', lineHeight: 1.65 }}&gt;浅的不好玩，深的玩不动。&lt;br /&gt;每个经营桌游都躲不开这两条死路。&lt;/Text&gt;&#10;    &lt;Box style={{ flexDirection: 'row', gap: 20, marginTop: 26 }}&gt;&#10;      &lt;Box style={{ width: 300, background: 'rgba(244,240,230,0.06)', border: '1px solid rgba(244,240,230,0.22)', padding: '18px 20px', flexDirection: 'column', gap: 8 }}&gt;&#10;        &lt;Text style={{ fontSize: 13, letterSpacing: 3, color: 'rgba(244,240,230,0.5)' }}&gt;死路 A · 太浅&lt;/Text&gt;&#10;        &lt;Text style={{ fontSize: 17, color: '#F4F0E6', lineHeight: 1.6 }}&gt;三分钟上手，三局就腻&lt;br /&gt;——决策消失，只剩掷骰子&lt;/Text&gt;&#10;      &lt;/Box&gt;&#10;      &lt;Box style={{ width: 300, background: 'rgba(244,240,230,0.06)', border: '1px solid rgba(244,240,230,0.22)', padding: '18px 20px', flexDirection: 'column', gap: 8 }}&gt;&#10;        &lt;Text style={{ fontSize: 13, letterSpacing: 3, color: 'rgba(244,240,230,0.5)' }}&gt;死路 B · 太重&lt;/Text&gt;&#10;        &lt;Text style={{ fontSize: 17, color: '#F4F0E6', lineHeight: 1.6 }}&gt;第一回合就要查表&lt;br /&gt;——第二回合就有人离席&lt;/Text&gt;&#10;      &lt;/Box&gt;&#10;    &lt;/Box&gt;&#10;  &lt;/Box&gt;&#10;  &lt;Box style={{ position: 'absolute', left: 72, right: 72, bottom: 96, flexDirection: 'column', gap: 16 }}&gt;&#10;    &lt;Box style={{ height: 1, background: 'rgba(244,240,230,0.18)' }} /&gt;&#10;    &lt;Box style={{ flexDirection: 'row', justifyContent: 'space-between', alignItems: 'center' }}&gt;&#10;      &lt;Box style={{ flexDirection: 'row', alignItems: 'center', gap: 12 }}&gt;&#10;        &lt;Text style={{ fontSize: 20, fontWeight: 'bold', color: '#D9622B', fontFamily: 'Georgia, serif' }}&gt;01&lt;/Text&gt;&#10;        &lt;Text style={{ fontSize: 17, color: '#F4F0E6', fontWeight: 'bold' }}&gt;两难&lt;/Text&gt;&#10;      &lt;/Box&gt;&#10;      &lt;Box style={{ flexDirection: 'row', alignItems: 'center', gap: 12, opacity: 0.45 }}&gt;&#10;        &lt;Text style={{ fontSize: 20, fontWeight: 'bold', color: '#F4F0E6', fontFamily: 'Georgia, serif' }}&gt;02&lt;/Text&gt;&#10;        &lt;Text style={{ fontSize: 17, color: '#F4F0E6' }}&gt;玩法&lt;/Text&gt;&#10;      &lt;/Box&gt;&#10;      &lt;Box style={{ flexDirection: 'row', alignItems: 'center', gap: 12, opacity: 0.45 }}&gt;&#10;        &lt;Text style={{ fontSize: 20, fontWeight: 'bold', color: '#F4F0E6', fontFamily: 'Georgia, serif' }}&gt;03&lt;/Text&gt;&#10;        &lt;Text style={{ fontSize: 17, color: '#F4F0E6' }}&gt;秘书&lt;/Text&gt;&#10;      &lt;/Box&gt;&#10;    &lt;/Box&gt;&#10;  &lt;/Box&gt;&#10;  &lt;Box style={{ position: 'absolute', left: 72, bottom: 42, flexDirection: 'row', alignItems: 'center', gap: 12 }}&gt;&#10;    &lt;Box style={{ width: 22, height: 22, background: '#D9622B' }} /&gt;&#10;    &lt;Text style={{ fontSize: 13, letterSpacing: 2, color: 'rgba(244,240,230,0.5)' }}&gt;REGION SIM · 2026.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83" name="矩形 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232B"/>
              </a:gs>
              <a:gs pos="100000">
                <a:srgbClr val="1E3540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943850" y="914400"/>
            <a:ext cx="3638550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F4F0E6">
                    <a:alpha val="9000"/>
                  </a:srgbClr>
                </a:solidFill>
                <a:latin typeface="Georgia" panose="02040502050405020303"/>
                <a:ea typeface="Georgia" panose="02040502050405020303"/>
              </a:rPr>
              <a:t>01</a:t>
            </a:r>
            <a:endParaRPr lang="en-US" sz="24000" b="1">
              <a:solidFill>
                <a:srgbClr val="F4F0E6">
                  <a:alpha val="9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85800" y="1428750"/>
            <a:ext cx="6096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CHAPTER 01</a:t>
            </a:r>
            <a:endParaRPr lang="en-US" sz="1050" spc="37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85800" y="1800225"/>
            <a:ext cx="6096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两难</a:t>
            </a:r>
            <a:endParaRPr lang="zh-CN" sz="495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85800" y="2771775"/>
            <a:ext cx="533400" cy="381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85800" y="3019425"/>
            <a:ext cx="609600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浅的不好玩，深的玩不动。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每个经营桌游都躲不开这两条死路。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85800" y="4391025"/>
            <a:ext cx="2857500" cy="1200150"/>
          </a:xfrm>
          <a:prstGeom prst="rect">
            <a:avLst/>
          </a:prstGeom>
          <a:solidFill>
            <a:srgbClr val="F4F0E6">
              <a:alpha val="6000"/>
            </a:srgbClr>
          </a:solidFill>
          <a:ln w="12700">
            <a:solidFill>
              <a:srgbClr val="F4F0E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876300" y="4562475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死路</a:t>
            </a:r>
            <a:r>
              <a:rPr lang="en-US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太浅</a:t>
            </a:r>
            <a:endParaRPr lang="zh-CN" sz="975" spc="225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76300" y="4791075"/>
            <a:ext cx="2476500" cy="628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三分钟上手，三局就腻</a:t>
            </a:r>
            <a:endParaRPr lang="zh-CN" sz="1275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——决策消失，只剩掷骰子</a:t>
            </a:r>
            <a:endParaRPr lang="zh-CN" sz="1275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733800" y="4391025"/>
            <a:ext cx="2857500" cy="1200150"/>
          </a:xfrm>
          <a:prstGeom prst="rect">
            <a:avLst/>
          </a:prstGeom>
          <a:solidFill>
            <a:srgbClr val="F4F0E6">
              <a:alpha val="6000"/>
            </a:srgbClr>
          </a:solidFill>
          <a:ln w="12700">
            <a:solidFill>
              <a:srgbClr val="F4F0E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3924300" y="4562475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死路</a:t>
            </a:r>
            <a:r>
              <a:rPr lang="en-US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 · </a:t>
            </a: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太重</a:t>
            </a:r>
            <a:endParaRPr lang="zh-CN" sz="975" spc="225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3924300" y="4791075"/>
            <a:ext cx="2476500" cy="628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第一回合就要查表</a:t>
            </a:r>
            <a:endParaRPr lang="zh-CN" sz="1275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——第二回合就有人离席</a:t>
            </a:r>
            <a:endParaRPr lang="zh-CN" sz="1275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85800" y="5553075"/>
            <a:ext cx="10820400" cy="9525"/>
          </a:xfrm>
          <a:prstGeom prst="rect">
            <a:avLst/>
          </a:prstGeom>
          <a:solidFill>
            <a:srgbClr val="F4F0E6">
              <a:alpha val="18000"/>
            </a:srgbClr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685800" y="5715000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01</a:t>
            </a:r>
            <a:endParaRPr lang="en-US" sz="1500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028700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两难</a:t>
            </a:r>
            <a:endParaRPr lang="zh-CN" sz="1275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5734050" y="5715000"/>
            <a:ext cx="25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4F0E6">
                    <a:alpha val="45000"/>
                  </a:srgbClr>
                </a:solidFill>
                <a:latin typeface="Georgia" panose="02040502050405020303"/>
                <a:ea typeface="Georgia" panose="02040502050405020303"/>
              </a:rPr>
              <a:t>02</a:t>
            </a:r>
            <a:endParaRPr lang="en-US" sz="1500" b="1">
              <a:solidFill>
                <a:srgbClr val="F4F0E6">
                  <a:alpha val="45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6105525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4F0E6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endParaRPr lang="zh-CN" sz="1275">
              <a:solidFill>
                <a:srgbClr val="F4F0E6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810875" y="5715000"/>
            <a:ext cx="25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4F0E6">
                    <a:alpha val="45000"/>
                  </a:srgbClr>
                </a:solidFill>
                <a:latin typeface="Georgia" panose="02040502050405020303"/>
                <a:ea typeface="Georgia" panose="02040502050405020303"/>
              </a:rPr>
              <a:t>03</a:t>
            </a:r>
            <a:endParaRPr lang="en-US" sz="1500" b="1">
              <a:solidFill>
                <a:srgbClr val="F4F0E6">
                  <a:alpha val="45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1182350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4F0E6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秘书</a:t>
            </a:r>
            <a:endParaRPr lang="zh-CN" sz="1275">
              <a:solidFill>
                <a:srgbClr val="F4F0E6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85800" y="6248400"/>
            <a:ext cx="209550" cy="20955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1009650" y="6276975"/>
            <a:ext cx="1695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REGION SIM · 2026.10</a:t>
            </a:r>
            <a:endParaRPr lang="en-US" sz="975" spc="150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一章 · 两难&lt;/Text&gt;&#10;    &lt;Text style={{ fontSize: 34, fontWeight: 'bold', color: '#14232B' }}&gt;两条死路，和中间那条缝&lt;/Text&gt;&#10;  &lt;/Box&gt;&#10;  &lt;Box style={{ position: 'absolute', left: 72, top: 132, width: 660, height: 400, flexDirection: 'column' }}&gt;&#10;    &lt;Box style={{ flexDirection: 'column', gap: 8, paddingBottom: 18 }}&gt;&#10;      &lt;Text style={{ fontSize: 13, letterSpacing: 3, color: '#D9622B', fontWeight: 'bold' }}&gt;死路 A · 太浅&lt;/Text&gt;&#10;      &lt;Text style={{ fontSize: 22, fontWeight: 'bold', color: '#14232B' }}&gt;决策在第三局消失&lt;/Text&gt;&#10;      &lt;Text style={{ fontSize: 17, color: 'rgba(20,35,43,0.72)', lineHeight: 1.65 }}&gt;掷骰子、买地、收租。运气决定一切，策略没有座位——上手有多快，腻得就有多快。&lt;/Text&gt;&#10;    &lt;/Box&gt;&#10;    &lt;Box style={{ height: 1, background: 'rgba(20,35,43,0.16)' }} /&gt;&#10;    &lt;Box style={{ flexDirection: 'column', gap: 8, paddingTop: 18 }}&gt;&#10;      &lt;Text style={{ fontSize: 13, letterSpacing: 3, color: '#2C6E6B', fontWeight: 'bold' }}&gt;死路 B · 太重&lt;/Text&gt;&#10;      &lt;Text style={{ fontSize: 22, fontWeight: 'bold', color: '#14232B' }}&gt;策略在第一回合离席&lt;/Text&gt;&#10;      &lt;Text style={{ fontSize: 17, color: 'rgba(20,35,43,0.72)', lineHeight: 1.65 }}&gt;供需、弹性、税率、工期、口粮、邻接……规则书写满四十页，玩家在回合内根本算不出&quot;这一步值不值&quot;。&lt;/Text&gt;&#10;    &lt;/Box&gt;&#10;  &lt;/Box&gt;&#10;  &lt;Box style={{ position: 'absolute', right: 72, top: 132, width: 420, flexDirection: 'column', alignItems: 'center', gap: 10 }}&gt;&#10;    &lt;svg width={420} height={400} viewBox='0 0 420 400'&gt;&#10;      &lt;rect x={200} y={40} width={86} height={300} fill='rgba(217,98,43,0.13)' /&gt;&#10;      &lt;line x1={44} y1={352} x2={400} y2={352} stroke='rgba(20,35,43,0.5)' strokeWidth={1.5} /&gt;&#10;      &lt;line x1={44} y1={352} x2={44} y2={24} stroke='rgba(20,35,43,0.5)' strokeWidth={1.5} /&gt;&#10;      &lt;path d='M 60 322 Q 150 322 243 74 Q 330 284 392 318' fill='none' stroke='#14232B' strokeWidth={3} /&gt;&#10;      &lt;text x={78} y={108} fontSize={14} fill='rgba(20,35,43,0.45)'&gt;靠运气赢&lt;/text&gt;&#10;      &lt;text x={300} y={108} fontSize={14} fill='rgba(20,35,43,0.45)'&gt;靠查表活&lt;/text&gt;&#10;      &lt;line x1={60} y1={132} x2={172} y2={132} stroke='rgba(20,35,43,0.2)' strokeWidth={1} strokeDasharray='4 4' /&gt;&#10;      &lt;line x1={252} y1={132} x2={392} y2={132} stroke='rgba(20,35,43,0.2)' strokeWidth={1} strokeDasharray='4 4' /&gt;&#10;      &lt;circle cx={92} cy={314} r={7} fill='#2C6E6B' /&gt;&#10;      &lt;circle cx={366} cy={308} r={7} fill='#2C6E6B' /&gt;&#10;      &lt;circle cx={243} cy={74} r={9} fill='#D9622B' /&gt;&#10;      &lt;circle cx={243} cy={74} r={16} fill='none' stroke='#D9622B' strokeWidth={1.5} opacity={0.5} /&gt;&#10;      &lt;text x={106} y={300} fontSize={14} fill='rgba(20,35,43,0.72)'&gt;太浅&lt;/text&gt;&#10;      &lt;text x={318} y={292} fontSize={14} fill='rgba(20,35,43,0.72)'&gt;太重&lt;/text&gt;&#10;      &lt;text x={216} y={32} fontSize={15} fill='#D9622B' fontWeight='bold'&gt;可玩区&lt;/text&gt;&#10;      &lt;text x={200} y={382} fontSize={13} fill='rgba(20,35,43,0.5)' textAnchor='middle'&gt;规则复杂度 →&lt;/text&gt;&#10;      &lt;text x={16} y={18} fontSize={13} fill='rgba(20,35,43,0.5)'&gt;好玩 ↑&lt;/text&gt;&#10;    &lt;/svg&gt;&#10;  &lt;/Box&gt;&#10;  &lt;Box style={{ position: 'absolute', left: 72, right: 72, bottom: 64, background: '#14232B', borderLeft: '6px solid #D9622B', padding: '22px 30px', flexDirection: 'column', gap: 6 }}&gt;&#10;    &lt;Text style={{ fontSize: 13, letterSpacing: 4, color: 'rgba(244,240,230,0.55)' }}&gt;我们的方案 · OUR ANSWER&lt;/Text&gt;&#10;    &lt;Text style={{ fontSize: 31, color: '#F4F0E6', lineHeight: 1.45, fontWeight: 'bold' }}&gt;规则做深，算账拿走——&lt;span style={{ color: '#D9622B' }}&gt;市场当裁判，秘书当会计。&lt;/span&gt;&lt;/Text&gt;&#10;  &lt;/Box&gt;&#10;  &lt;Box style={{ position: 'absolute', left: 72, bottom: 26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03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685800" y="381000"/>
            <a:ext cx="3562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两难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685800" y="609600"/>
            <a:ext cx="3562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两条死路，和中间那条缝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685800" y="1257300"/>
            <a:ext cx="628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死路</a:t>
            </a:r>
            <a:r>
              <a:rPr lang="en-US" sz="975" b="1" spc="225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 b="1" spc="225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太浅</a:t>
            </a:r>
            <a:endParaRPr lang="zh-CN" sz="975" b="1" spc="225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685800" y="148590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决策在第三局消失</a:t>
            </a:r>
            <a:endParaRPr lang="zh-CN" sz="16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1819275"/>
            <a:ext cx="6286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掷骰子、买地、收租。运气决定一切，策略没有座位——上手有多快，腻得就有多快。</a:t>
            </a:r>
            <a:endParaRPr lang="zh-CN" sz="127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685800" y="2314575"/>
            <a:ext cx="6286500" cy="9525"/>
          </a:xfrm>
          <a:prstGeom prst="rect">
            <a:avLst/>
          </a:prstGeom>
          <a:solidFill>
            <a:srgbClr val="14232B">
              <a:alpha val="16000"/>
            </a:srgbClr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685800" y="2495550"/>
            <a:ext cx="628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死路</a:t>
            </a:r>
            <a:r>
              <a:rPr lang="en-US" sz="975" b="1" spc="225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 B · </a:t>
            </a:r>
            <a:r>
              <a:rPr lang="zh-CN" sz="975" b="1" spc="225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太重</a:t>
            </a:r>
            <a:endParaRPr lang="zh-CN" sz="975" b="1" spc="225">
              <a:solidFill>
                <a:srgbClr val="2C6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85800" y="2724150"/>
            <a:ext cx="6286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策略在第一回合离席</a:t>
            </a:r>
            <a:endParaRPr lang="zh-CN" sz="16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85800" y="3057525"/>
            <a:ext cx="62865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供需、弹性、税率、工期、口粮、邻接……规则书写满四十页，玩家在回合内根本算不出</a:t>
            </a:r>
            <a:r>
              <a:rPr lang="en-US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这一步值不值</a:t>
            </a:r>
            <a:r>
              <a:rPr lang="en-US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5700" y="1257300"/>
            <a:ext cx="4000500" cy="3810000"/>
          </a:xfrm>
          <a:prstGeom prst="rect">
            <a:avLst/>
          </a:prstGeom>
        </p:spPr>
      </p:pic>
      <p:sp>
        <p:nvSpPr>
          <p:cNvPr id="117" name="矩形 116"/>
          <p:cNvSpPr/>
          <p:nvPr/>
        </p:nvSpPr>
        <p:spPr>
          <a:xfrm>
            <a:off x="742950" y="5105400"/>
            <a:ext cx="10820400" cy="1143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118" name="任意多边形 117"/>
          <p:cNvSpPr/>
          <p:nvPr/>
        </p:nvSpPr>
        <p:spPr>
          <a:xfrm>
            <a:off x="685800" y="5105400"/>
            <a:ext cx="10877550" cy="1143000"/>
          </a:xfrm>
          <a:custGeom>
            <a:avLst/>
            <a:gdLst/>
            <a:ahLst/>
            <a:cxnLst/>
            <a:pathLst>
              <a:path w="1142" h="120">
                <a:moveTo>
                  <a:pt x="0" y="0"/>
                </a:moveTo>
                <a:lnTo>
                  <a:pt x="6" y="0"/>
                </a:lnTo>
                <a:lnTo>
                  <a:pt x="6" y="120"/>
                </a:lnTo>
                <a:lnTo>
                  <a:pt x="0" y="120"/>
                </a:lnTo>
                <a:close/>
              </a:path>
            </a:pathLst>
          </a:custGeom>
          <a:solidFill>
            <a:srgbClr val="D9622B"/>
          </a:soli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28700" y="5314950"/>
            <a:ext cx="10191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我们的方案</a:t>
            </a:r>
            <a:r>
              <a:rPr lang="en-US" sz="975" spc="300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OUR ANSWER</a:t>
            </a:r>
            <a:endParaRPr lang="en-US" sz="975" spc="300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028700" y="5524500"/>
            <a:ext cx="101917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325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规则做深，算账拿走——</a:t>
            </a:r>
            <a:r>
              <a:rPr lang="zh-CN" sz="2325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市场当裁判，秘书当会计。</a:t>
            </a:r>
            <a:endParaRPr lang="zh-CN" sz="2325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85800" y="64674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1096625" y="646747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 / 11</a:t>
            </a:r>
            <a:endParaRPr lang="en-US" sz="94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 descr="&lt;Slide style={{ width: 1280, height: 720, background: '#14232B', position: 'relative', overflow: 'hidden' }}&gt;&#10;  &lt;Box style={{ position: 'absolute', left: 0, top: 0, width: 1280, height: 720, background: 'linear-gradient(160deg, #14232B 0%, #1E3540 100%)' }} /&gt;&#10;  &lt;Text style={{ position: 'absolute', right: 64, top: 96, fontSize: 320, fontWeight: 'bold', fontFamily: 'Georgia, serif', color: 'rgba(244,240,230,0.14)', lineHeight: 1 }}&gt;02&lt;/Text&gt;&#10;  &lt;Box style={{ position: 'absolute', right: 84, top: 452, width: 430, flexDirection: 'column', gap: 12 }}&gt;&#10;    &lt;svg width={430} height={46} viewBox='0 0 430 46'&gt;&#10;      &lt;line x1={0} y1={22} x2={430} y2={22} stroke='rgba(244,240,230,0.35)' strokeWidth={1.5} /&gt;&#10;      {[0, 1, 2, 3, 4, 5, 6, 7, 8].map(i =&gt; (&#10;        &lt;circle key={i} cx={10 + i * 51.25} cy={22} r={3.5} fill={i &lt; 3 ? '#D9622B' : 'rgba(244,240,230,0.5)'} /&gt;&#10;      ))}&#10;      &lt;text x={2} y={44} fontSize={12} fill='rgba(244,240,230,0.55)'&gt;Q1 开局&lt;/text&gt;&#10;      &lt;text x={352} y={44} fontSize={12} fill='rgba(244,240,230,0.55)'&gt;Q20 结算&lt;/text&gt;&#10;    &lt;/svg&gt;&#10;    &lt;Text style={{ fontSize: 14, color: 'rgba(244,240,230,0.55)', letterSpacing: 2 }}&gt;一局 20 季 · 前 7 季有开局扶持&lt;/Text&gt;&#10;  &lt;/Box&gt;&#10;  &lt;Box style={{ position: 'absolute', left: 72, top: 150, width: 640, flexDirection: 'column', gap: 22 }}&gt;&#10;    &lt;Text style={{ fontSize: 14, letterSpacing: 5, color: 'rgba(244,240,230,0.55)' }}&gt;第二章 · CHAPTER 02&lt;/Text&gt;&#10;    &lt;Text style={{ fontSize: 66, fontWeight: 'bold', color: '#F4F0E6', fontFamily: &quot;Georgia, 'Source Han Serif SC', SimSun, serif&quot; }}&gt;玩法&lt;/Text&gt;&#10;    &lt;Box style={{ width: 56, height: 4, background: '#D9622B' }} /&gt;&#10;    &lt;Text style={{ fontSize: 24, color: 'rgba(244,240,230,0.82)', lineHeight: 1.65 }}&gt;先看懂这张经济系统，&lt;br /&gt;再看一季怎么走完。&lt;/Text&gt;&#10;    &lt;Box style={{ flexDirection: 'row', gap: 20, marginTop: 18 }}&gt;&#10;      &lt;Box style={{ width: 300, background: 'rgba(244,240,230,0.06)', border: '1px solid rgba(244,240,230,0.22)', padding: '18px 20px', flexDirection: 'column', gap: 8 }}&gt;&#10;        &lt;Text style={{ fontSize: 13, letterSpacing: 3, color: 'rgba(244,240,230,0.5)' }}&gt;你要做的&lt;/Text&gt;&#10;        &lt;Text style={{ fontSize: 17, color: '#F4F0E6', lineHeight: 1.6 }}&gt;摆地块、定开工、&lt;br /&gt;报采购、报口粮&lt;/Text&gt;&#10;      &lt;/Box&gt;&#10;      &lt;Box style={{ width: 300, background: 'rgba(244,240,230,0.06)', border: '1px solid rgba(244,240,230,0.22)', padding: '18px 20px', flexDirection: 'column', gap: 8 }}&gt;&#10;        &lt;Text style={{ fontSize: 13, letterSpacing: 3, color: 'rgba(244,240,230,0.5)' }}&gt;引擎要做的&lt;/Text&gt;&#10;        &lt;Text style={{ fontSize: 17, color: '#F4F0E6', lineHeight: 1.6 }}&gt;一条你拧不动的价格、&lt;br /&gt;九个阶段、二十多个数&lt;/Text&gt;&#10;      &lt;/Box&gt;&#10;    &lt;/Box&gt;&#10;  &lt;/Box&gt;&#10;  &lt;Box style={{ position: 'absolute', left: 72, right: 72, bottom: 96, flexDirection: 'column', gap: 16 }}&gt;&#10;    &lt;Box style={{ height: 1, background: 'rgba(244,240,230,0.18)' }} /&gt;&#10;    &lt;Box style={{ flexDirection: 'row', justifyContent: 'space-between', alignItems: 'center' }}&gt;&#10;      &lt;Box style={{ flexDirection: 'row', alignItems: 'center', gap: 12, opacity: 0.45 }}&gt;&#10;        &lt;Text style={{ fontSize: 20, fontWeight: 'bold', color: '#F4F0E6', fontFamily: 'Georgia, serif' }}&gt;01&lt;/Text&gt;&#10;        &lt;Text style={{ fontSize: 17, color: '#F4F0E6' }}&gt;两难&lt;/Text&gt;&#10;      &lt;/Box&gt;&#10;      &lt;Box style={{ flexDirection: 'row', alignItems: 'center', gap: 12 }}&gt;&#10;        &lt;Text style={{ fontSize: 20, fontWeight: 'bold', color: '#D9622B', fontFamily: 'Georgia, serif' }}&gt;02&lt;/Text&gt;&#10;        &lt;Text style={{ fontSize: 17, color: '#F4F0E6', fontWeight: 'bold' }}&gt;玩法&lt;/Text&gt;&#10;      &lt;/Box&gt;&#10;      &lt;Box style={{ flexDirection: 'row', alignItems: 'center', gap: 12, opacity: 0.45 }}&gt;&#10;        &lt;Text style={{ fontSize: 20, fontWeight: 'bold', color: '#F4F0E6', fontFamily: 'Georgia, serif' }}&gt;03&lt;/Text&gt;&#10;        &lt;Text style={{ fontSize: 17, color: '#F4F0E6' }}&gt;秘书&lt;/Text&gt;&#10;      &lt;/Box&gt;&#10;    &lt;/Box&gt;&#10;  &lt;/Box&gt;&#10;  &lt;Box style={{ position: 'absolute', left: 72, bottom: 42, flexDirection: 'row', alignItems: 'center', gap: 12 }}&gt;&#10;    &lt;Box style={{ width: 22, height: 22, background: '#D9622B' }} /&gt;&#10;    &lt;Text style={{ fontSize: 13, letterSpacing: 2, color: 'rgba(244,240,230,0.5)' }}&gt;REGION SIM · 2026.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125" name="矩形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232B"/>
              </a:gs>
              <a:gs pos="100000">
                <a:srgbClr val="1E3540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3500" y="99695"/>
            <a:ext cx="12064365" cy="6471920"/>
          </a:xfrm>
          <a:prstGeom prst="rect">
            <a:avLst/>
          </a:prstGeom>
        </p:spPr>
      </p:pic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7534275" y="1663700"/>
            <a:ext cx="404812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F4F0E6">
                    <a:alpha val="14000"/>
                  </a:srgbClr>
                </a:solidFill>
                <a:latin typeface="Georgia" panose="02040502050405020303"/>
                <a:ea typeface="Georgia" panose="02040502050405020303"/>
              </a:rPr>
              <a:t>02</a:t>
            </a:r>
            <a:endParaRPr lang="en-US" sz="24000" b="1">
              <a:solidFill>
                <a:srgbClr val="F4F0E6">
                  <a:alpha val="14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85800" y="1428750"/>
            <a:ext cx="6096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CHAPTER 02</a:t>
            </a:r>
            <a:endParaRPr lang="en-US" sz="1050" spc="37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85800" y="1800225"/>
            <a:ext cx="6096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玩法</a:t>
            </a:r>
            <a:endParaRPr lang="zh-CN" sz="495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685800" y="2771775"/>
            <a:ext cx="533400" cy="381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85800" y="3019425"/>
            <a:ext cx="609600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先看懂这张经济系统，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再看一季怎么走完。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685800" y="6248400"/>
            <a:ext cx="209550" cy="20955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009650" y="6276975"/>
            <a:ext cx="1695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REGION SIM · 2026.10</a:t>
            </a:r>
            <a:endParaRPr lang="en-US" sz="975" spc="150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二章 · 玩法 · 经济系统设计&lt;/Text&gt;&#10;    &lt;Text style={{ fontSize: 34, fontWeight: 'bold', color: '#14232B' }}&gt;先认识这张桌子：一个全国市场&lt;/Text&gt;&#10;  &lt;/Box&gt;&#10;  &lt;Box style={{ position: 'absolute', left: 72, top: 138, width: 660, height: 500, flexDirection: 'column', gap: 12 }}&gt;&#10;    &lt;svg width={660} height={430} viewBox='0 0 660 430'&gt;&#10;      &lt;rect x={60} y={42} width={570} height={338} fill='#FFFFFF' /&gt;&#10;      {[68, 146, 224, 302].map(y =&gt; (&#10;        &lt;line key={y} x1={60} y1={y} x2={630} y2={y} stroke='rgba(20,35,43,0.08)' strokeWidth={1} /&gt;&#10;      ))}&#10;      &lt;line x1={60} y1={380} x2={630} y2={380} stroke='rgba(20,35,43,0.45)' strokeWidth={1.5} /&gt;&#10;      &lt;line x1={60} y1={42} x2={60} y2={380} stroke='rgba(20,35,43,0.45)' strokeWidth={1.5} /&gt;&#10;      {[0, 30, 60, 90, 120].map(p =&gt; (&#10;        &lt;text key={p} x={50} y={384 - p * 2.6} fontSize={12} fill='rgba(20,35,43,0.5)' textAnchor='end'&gt;{p}&lt;/text&gt;&#10;      ))}&#10;      {[0, 100, 200, 300, 400, 500].map(q =&gt; (&#10;        &lt;text key={q} x={60 + q * 1.14} y={398} fontSize={12} fill='rgba(20,35,43,0.5)' textAnchor='middle'&gt;{q}&lt;/text&gt;&#10;      ))}&#10;      &lt;path d='M 60 380 L 630 137.4' fill='none' stroke='#2C6E6B' strokeWidth={3} /&gt;&#10;      &lt;path d='M 60 52.4 L 630 380' fill='none' stroke='#14232B' strokeWidth={3} /&gt;&#10;      &lt;circle cx={402} cy={234.4} r={7} fill='#D9622B' /&gt;&#10;      &lt;circle cx={402} cy={234.4} r={14} fill='none' stroke='#D9622B' strokeWidth={1.5} opacity={0.5} /&gt;&#10;      &lt;text x={424} y={222} fontSize={14} fill='#D9622B' fontWeight='bold'&gt;Q0 = 300 · P0 = 56&lt;/text&gt;&#10;      &lt;text x={560} y={122} fontSize={14} fill='#2C6E6B' fontWeight='bold'&gt;供给&lt;/text&gt;&#10;      &lt;text x={92} y={40} fontSize={14} fill='#14232B' fontWeight='bold'&gt;需求&lt;/text&gt;&#10;      &lt;text x={330} y={424} fontSize={13} fill='rgba(20,35,43,0.5)' textAnchor='middle'&gt;市场数量 Q →&lt;/text&gt;&#10;      &lt;text x={20} y={30} fontSize={13} fill='rgba(20,35,43,0.5)'&gt;价格 P ↑&lt;/text&gt;&#10;    &lt;/svg&gt;&#10;    &lt;Text style={{ fontSize: 14, color: 'rgba(20,35,43,0.55)' }}&gt;G · 工业基础材料：P0 = 56 · Q0 = 300 · 弹性 Es = 1.0 / Ed = −0.8 —— 每种商品各有一条这样的曲线&lt;/Text&gt;&#10;  &lt;/Box&gt;&#10;  &lt;Box style={{ position: 'absolute', right: 72, top: 138, width: 430, height: 500, flexDirection: 'column', justifyContent: 'space-between', gap: 14 }}&gt;&#10;    &lt;Box style={{ background: '#14232B', padding: '22px 24px', flexDirection: 'column', gap: 10 }}&gt;&#10;      &lt;Text style={{ fontSize: 13, letterSpacing: 3, color: 'rgba(244,240,230,0.55)' }}&gt;本季成交价&lt;/Text&gt;&#10;      &lt;Text style={{ fontSize: 26, fontFamily: 'Georgia, serif', color: '#F4F0E6', fontWeight: 'bold' }}&gt;P = P0 + (B − X) / (s + d)&lt;/Text&gt;&#10;      &lt;Text style={{ fontSize: 15.5, color: 'rgba(244,240,230,0.75)', lineHeight: 1.65 }}&gt;G 的 s + d = 9.642857：本季全市场多卖出 5 单位，价格就从 56 掉到 55.48。&lt;/Text&gt;&#10;    &lt;/Box&gt;&#10;    {[&#10;      ['你的产量，就是价格的一部分', '产出即供给：不存在&quot;捂盘惜售&quot;，你多卖 1 单位，全市场的成交价都动一格。'],&#10;      ['买与卖用的是两个季度的价', '买入按上季价、卖出按本季价——你买原料的同时，也在替下一季的成本抬价。'],&#10;      ['触底不崩盘，惩罚在利润里', '价格有地板价，触底仍然全量收购——代价不是卖不掉，而是白干一季。'],&#10;    ].map(([t, d]) =&gt; (&#10;      &lt;Box key={t} style={{ flexDirection: 'row', gap: 14, alignItems: 'flex-start' }}&gt;&#10;        &lt;Box style={{ width: 8, height: 8, background: '#D9622B', marginTop: 9 }} /&gt;&#10;        &lt;Box style={{ flex: 1, flexDirection: 'column', gap: 5 }}&gt;&#10;          &lt;Text style={{ fontSize: 18, fontWeight: 'bold', color: '#14232B' }}&gt;{t}&lt;/Text&gt;&#10;          &lt;Text style={{ fontSize: 15.5, color: 'rgba(20,35,43,0.68)', lineHeight: 1.65 }}&gt;{d}&lt;/Text&gt;&#10;        &lt;/Box&gt;&#10;      &lt;/Box&gt;&#10;    ))}&#10;  &lt;/Box&gt;&#10;  &lt;Box style={{ position: 'absolute', left: 72, bottom: 30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05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 1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685800" y="381000"/>
            <a:ext cx="4533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经济系统设计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85800" y="609600"/>
            <a:ext cx="4533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先认识这张桌子：一个全国市场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2" name="图片 1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314450"/>
            <a:ext cx="6286500" cy="4095750"/>
          </a:xfrm>
          <a:prstGeom prst="rect">
            <a:avLst/>
          </a:prstGeom>
        </p:spPr>
      </p:pic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85800" y="5524500"/>
            <a:ext cx="6286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 · </a:t>
            </a: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工业基础材料：</a:t>
            </a:r>
            <a:r>
              <a:rPr lang="en-US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P0 = 56 · Q0 = 300 · </a:t>
            </a: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弹性</a:t>
            </a:r>
            <a:r>
              <a:rPr lang="en-US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Es = 1.0 / Ed = −0.8 —— </a:t>
            </a: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每种商品各有一条这样的曲线</a:t>
            </a:r>
            <a:endParaRPr lang="zh-CN" sz="1050">
              <a:solidFill>
                <a:srgbClr val="14232B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7410450" y="1314450"/>
            <a:ext cx="4095750" cy="165735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639050" y="1524000"/>
            <a:ext cx="3638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本季成交价</a:t>
            </a:r>
            <a:endParaRPr lang="zh-CN" sz="975" spc="22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7639050" y="1771650"/>
            <a:ext cx="3638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P = P0 + (B − X) / (s + d)</a:t>
            </a:r>
            <a:endParaRPr lang="en-US" sz="195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639050" y="2171700"/>
            <a:ext cx="36385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 </a:t>
            </a:r>
            <a:r>
              <a:rPr lang="zh-CN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 + d = 9.642857</a:t>
            </a:r>
            <a:r>
              <a:rPr lang="zh-CN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：本季全市场多卖出</a:t>
            </a:r>
            <a:r>
              <a:rPr lang="en-US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单位，价格就从</a:t>
            </a:r>
            <a:r>
              <a:rPr lang="en-US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56 </a:t>
            </a:r>
            <a:r>
              <a:rPr lang="zh-CN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掉到</a:t>
            </a:r>
            <a:r>
              <a:rPr lang="en-US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55.48</a:t>
            </a:r>
            <a:r>
              <a:rPr lang="zh-CN" sz="1165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65">
              <a:solidFill>
                <a:srgbClr val="F4F0E6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7410450" y="3248025"/>
            <a:ext cx="76200" cy="762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620000" y="3162300"/>
            <a:ext cx="3886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你的产量，就是价格的一部分</a:t>
            </a:r>
            <a:endParaRPr lang="zh-CN" sz="13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620000" y="3419475"/>
            <a:ext cx="3886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产出即供给：不存在</a:t>
            </a:r>
            <a:r>
              <a:rPr lang="en-US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捂盘惜售</a:t>
            </a:r>
            <a:r>
              <a:rPr lang="en-US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，你多卖</a:t>
            </a:r>
            <a:r>
              <a:rPr lang="en-US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单位，全市场的成交价都动一格。</a:t>
            </a:r>
            <a:endParaRPr lang="zh-CN" sz="1165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7410450" y="4276725"/>
            <a:ext cx="76200" cy="762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620000" y="4191000"/>
            <a:ext cx="3886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买与卖用的是两个季度的价</a:t>
            </a:r>
            <a:endParaRPr lang="zh-CN" sz="13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620000" y="4448175"/>
            <a:ext cx="3886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买入按上季价、卖出按本季价——你买原料的同时，也在替下一季的成本抬价。</a:t>
            </a:r>
            <a:endParaRPr lang="zh-CN" sz="1165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7410450" y="5314950"/>
            <a:ext cx="76200" cy="762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7620000" y="5229225"/>
            <a:ext cx="3886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触底不崩盘，惩罚在利润里</a:t>
            </a:r>
            <a:endParaRPr lang="zh-CN" sz="13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620000" y="5486400"/>
            <a:ext cx="38862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价格有地板价，触底仍然全量收购——代价不是卖不掉，而是白干一季。</a:t>
            </a:r>
            <a:endParaRPr lang="zh-CN" sz="1165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685800" y="64293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11096625" y="642937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 / 11</a:t>
            </a:r>
            <a:endParaRPr lang="en-US" sz="94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二章 · 玩法 · 季度结算&lt;/Text&gt;&#10;    &lt;Text style={{ fontSize: 34, fontWeight: 'bold', color: '#14232B' }}&gt;一季，九个阶段：你只落一次笔&lt;/Text&gt;&#10;  &lt;/Box&gt;&#10;  &lt;Box style={{ position: 'absolute', left: 72, top: 138, width: 330, height: 500, flexDirection: 'column', gap: 14 }}&gt;&#10;    &lt;Text style={{ fontSize: 18.5, color: '#14232B', lineHeight: 1.65, fontWeight: 'bold' }}&gt;期初提交计划：盖什么、开多少工、买什么、吃什么、和谁签约。&lt;/Text&gt;&#10;    &lt;Text style={{ fontSize: 15.5, color: 'rgba(20,35,43,0.7)', lineHeight: 1.7 }}&gt;这一步&lt;span style={{ fontWeight: 'bold', color: '#D9622B' }}&gt;只校验、不扣钱、不锁价&lt;/span&gt;；钱在结算第 5 步一笔扣清——&quot;钱为什么少了&quot;永远只有一个查得到的点。&lt;/Text&gt;&#10;    &lt;Box style={{ height: 158, border: '2px dashed rgba(20,35,43,0.35)', background: 'rgba(20,35,43,0.03)', alignItems: 'center', justifyContent: 'center', flexDirection: 'column', gap: 8 }}&gt;&#10;      &lt;svg width={40} height={40} viewBox='0 0 40 40'&gt;&#10;        &lt;rect x={4} y={7} width={32} height={24} rx={2} fill='none' stroke='rgba(20,35,43,0.4)' strokeWidth={2} /&gt;&#10;        &lt;path d='M 12 31 L 16 37 M 28 31 L 24 37' stroke='rgba(20,35,43,0.4)' strokeWidth={2} /&gt;&#10;        &lt;circle cx={20} cy={19} r={6} fill='none' stroke='rgba(20,35,43,0.4)' strokeWidth={2} /&gt;&#10;      &lt;/svg&gt;&#10;      &lt;Text style={{ fontSize: 13.5, color: 'rgba(20,35,43,0.6)', fontWeight: 'bold', letterSpacing: 1 }}&gt;游戏截图位 · 待补&lt;/Text&gt;&#10;      &lt;Text style={{ fontSize: 12, color: 'rgba(20,35,43,0.45)' }}&gt;计划提交 / 结算界面实拍&lt;/Text&gt;&#10;    &lt;/Box&gt;&#10;    &lt;Box style={{ marginTop: 'auto', background: 'rgba(44,110,107,0.1)', padding: '14px 16px' }}&gt;&#10;      &lt;Text style={{ fontSize: 13.5, color: '#2C6E6B', lineHeight: 1.6, fontWeight: 'bold' }}&gt;四条硬约束 · 贯穿全季&lt;/Text&gt;&#10;      &lt;Text style={{ fontSize: 13, color: 'rgba(20,35,43,0.68)', lineHeight: 1.6 }}&gt;资金不超支 · 劳动力不重复分配&lt;br /&gt;商品不重复消耗 · 本季产出不进本季生产&lt;/Text&gt;&#10;    &lt;/Box&gt;&#10;  &lt;/Box&gt;&#10;  &lt;Box style={{ position: 'absolute', left: 448, top: 138, width: 760, height: 500, flexDirection: 'column', gap: 5 }}&gt;&#10;    {[&#10;      ['1', '期初公告', '补贴到账；公布上季财报、成交价与政策', false],&#10;      ['2', '提交计划', '建造 / 开工 / 采购 / 口粮 / 合同——只校验，不执行', false],&#10;      ['3', '人口与口粮', '岗位 L → 人口 N → 平均等级 m → 两档粮食需求', false],&#10;      ['4', '生产', '产出 = 配方 × 开工比例 × 效率 E；原料当场消耗', false],&#10;      ['5', '一次性扣款', '物资款（按上季价）+ 工资 + 经营费，一笔扣清', true],&#10;      ['6', '分配与工程', '合同交割；本季产品投入在建工程', false],&#10;      ['7', '市场结算', '产出按本季成交价 P 全部卖出，销售收入到账', false],&#10;      ['8', '粮食与幸福', '两档口粮判定 → 幸福度 H → 决定下季效率', false],&#10;      ['9', '税收与结转', '工资税回流；生成财报与新闻；季末零库存', false],&#10;    ].map(([n, name, desc, hot]) =&gt; (&#10;      &lt;Box key={n} style={{ flexDirection: 'row', alignItems: 'center', gap: 14, height: 51, background: hot ? '#14232B' : 'rgba(20,35,43,0.035)', padding: '0 18px', borderLeft: hot ? '5px solid #D9622B' : '5px solid transparent' }}&gt;&#10;        &lt;Text style={{ fontSize: 19, fontWeight: 'bold', fontFamily: 'Georgia, serif', color: hot ? '#D9622B' : 'rgba(20,35,43,0.4)', width: 26 }}&gt;{n}&lt;/Text&gt;&#10;        &lt;Text style={{ fontSize: 17, fontWeight: 'bold', color: hot ? '#F4F0E6' : '#14232B', width: 128 }}&gt;{name}&lt;/Text&gt;&#10;        &lt;Text style={{ fontSize: 14.5, color: hot ? 'rgba(244,240,230,0.8)' : 'rgba(20,35,43,0.62)', flex: 1 }}&gt;{desc}&lt;/Text&gt;&#10;        {hot ? &lt;Text style={{ fontSize: 12.5, color: '#D9622B', fontWeight: 'bold', letterSpacing: 2 }}&gt;唯一扣款点&lt;/Text&gt; : null}&#10;      &lt;/Box&gt;&#10;    ))}&#10;  &lt;/Box&gt;&#10;  &lt;Box style={{ position: 'absolute', left: 72, bottom: 30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06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685800" y="381000"/>
            <a:ext cx="4533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季度结算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85800" y="609600"/>
            <a:ext cx="4533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一季，九个阶段：你只落一次笔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85800" y="1314450"/>
            <a:ext cx="31432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9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期初提交计划：盖什么、开多少工、买什么、吃什么、和谁签约。</a:t>
            </a:r>
            <a:endParaRPr lang="zh-CN" sz="139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85800" y="2152650"/>
            <a:ext cx="3143250" cy="90487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70000"/>
              </a:lnSpc>
            </a:pPr>
            <a:r>
              <a:rPr lang="zh-CN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这一步</a:t>
            </a:r>
            <a:r>
              <a:rPr lang="zh-CN" sz="1165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只校验、不扣钱、不锁价</a:t>
            </a:r>
            <a:r>
              <a:rPr lang="zh-CN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；钱在结算第</a:t>
            </a:r>
            <a:r>
              <a:rPr lang="en-US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步一笔扣清——</a:t>
            </a:r>
            <a:r>
              <a:rPr lang="en-US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钱为什么少了</a:t>
            </a:r>
            <a:r>
              <a:rPr lang="en-US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65">
                <a:solidFill>
                  <a:srgbClr val="14232B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永远只有一个查得到的点。</a:t>
            </a:r>
            <a:endParaRPr lang="zh-CN" sz="1165">
              <a:solidFill>
                <a:srgbClr val="14232B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85800" y="3190875"/>
            <a:ext cx="3143250" cy="1504950"/>
          </a:xfrm>
          <a:prstGeom prst="rect">
            <a:avLst/>
          </a:prstGeom>
          <a:solidFill>
            <a:srgbClr val="14232B">
              <a:alpha val="3000"/>
            </a:srgbClr>
          </a:solidFill>
          <a:ln w="25400">
            <a:solidFill>
              <a:srgbClr val="14232B">
                <a:alpha val="35000"/>
              </a:srgbClr>
            </a:solidFill>
            <a:prstDash val="dash"/>
          </a:ln>
        </p:spPr>
        <p:txBody>
          <a:bodyPr/>
          <a:p/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6925" y="3524250"/>
            <a:ext cx="381000" cy="381000"/>
          </a:xfrm>
          <a:prstGeom prst="rect">
            <a:avLst/>
          </a:prstGeom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695450" y="3981450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 spc="75">
                <a:solidFill>
                  <a:srgbClr val="14232B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游戏截图位</a:t>
            </a:r>
            <a:r>
              <a:rPr lang="en-US" sz="1015" b="1" spc="75">
                <a:solidFill>
                  <a:srgbClr val="14232B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15" b="1" spc="75">
                <a:solidFill>
                  <a:srgbClr val="14232B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待补</a:t>
            </a:r>
            <a:endParaRPr lang="zh-CN" sz="1015" b="1" spc="75">
              <a:solidFill>
                <a:srgbClr val="14232B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628775" y="4219575"/>
            <a:ext cx="1266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计划提交</a:t>
            </a:r>
            <a:r>
              <a:rPr lang="en-US" sz="9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结算界面实拍</a:t>
            </a:r>
            <a:endParaRPr lang="zh-CN" sz="9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685800" y="5086350"/>
            <a:ext cx="3143250" cy="990600"/>
          </a:xfrm>
          <a:prstGeom prst="rect">
            <a:avLst/>
          </a:prstGeom>
          <a:solidFill>
            <a:srgbClr val="2C6E6B">
              <a:alpha val="10000"/>
            </a:srgbClr>
          </a:solidFill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38200" y="5219700"/>
            <a:ext cx="28384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5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四条硬约束</a:t>
            </a:r>
            <a:r>
              <a:rPr lang="en-US" sz="1015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15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贯穿全季</a:t>
            </a:r>
            <a:endParaRPr lang="zh-CN" sz="1015" b="1">
              <a:solidFill>
                <a:srgbClr val="2C6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838200" y="5467350"/>
            <a:ext cx="283845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资金不超支</a:t>
            </a:r>
            <a:r>
              <a:rPr lang="en-US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劳动力不重复分配</a:t>
            </a:r>
            <a:endParaRPr lang="zh-CN" sz="975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商品不重复消耗</a:t>
            </a:r>
            <a:r>
              <a:rPr lang="en-US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本季产出不进本季生产</a:t>
            </a:r>
            <a:endParaRPr lang="zh-CN" sz="975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685800" y="64293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3116580"/>
            <a:ext cx="3230880" cy="17506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314825" y="13144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4" name="任意多边形 3"/>
          <p:cNvSpPr/>
          <p:nvPr/>
        </p:nvSpPr>
        <p:spPr>
          <a:xfrm>
            <a:off x="4267200" y="13144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486275" y="14478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1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4867275" y="14573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期初公告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219825" y="14763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补贴到账；公布上季财报、成交价与政策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14825" y="1847850"/>
            <a:ext cx="7239000" cy="485775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9" name="任意多边形 8"/>
          <p:cNvSpPr/>
          <p:nvPr/>
        </p:nvSpPr>
        <p:spPr>
          <a:xfrm>
            <a:off x="4267200" y="18478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D9622B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4486275" y="19812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2</a:t>
            </a:r>
            <a:endParaRPr lang="en-US" sz="1425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4867275" y="19907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提交计划</a:t>
            </a:r>
            <a:endParaRPr lang="zh-CN" sz="1275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219825" y="2009775"/>
            <a:ext cx="4286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建造</a:t>
            </a:r>
            <a:r>
              <a:rPr lang="en-US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开工</a:t>
            </a:r>
            <a:r>
              <a:rPr lang="en-US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</a:t>
            </a:r>
            <a:r>
              <a:rPr lang="en-US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口粮</a:t>
            </a:r>
            <a:r>
              <a:rPr lang="en-US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F4F0E6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合同——只校验，不执行</a:t>
            </a:r>
            <a:endParaRPr lang="zh-CN" sz="1090">
              <a:solidFill>
                <a:srgbClr val="F4F0E6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639425" y="2019300"/>
            <a:ext cx="6953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 spc="15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唯一落笔点</a:t>
            </a:r>
            <a:endParaRPr lang="zh-CN" sz="940" b="1" spc="15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14825" y="23812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15" name="任意多边形 14"/>
          <p:cNvSpPr/>
          <p:nvPr/>
        </p:nvSpPr>
        <p:spPr>
          <a:xfrm>
            <a:off x="4267200" y="23812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4486275" y="25146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3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867275" y="25241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人口与口粮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6219825" y="25431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岗位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L →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人口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N →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平均等级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 →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两档粮食需求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14825" y="29146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20" name="任意多边形 19"/>
          <p:cNvSpPr/>
          <p:nvPr/>
        </p:nvSpPr>
        <p:spPr>
          <a:xfrm>
            <a:off x="4267200" y="29146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4486275" y="30480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4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867275" y="30575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生产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219825" y="30765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产出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配方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开工比例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效率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；原料当场消耗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314825" y="34480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25" name="任意多边形 24"/>
          <p:cNvSpPr/>
          <p:nvPr/>
        </p:nvSpPr>
        <p:spPr>
          <a:xfrm>
            <a:off x="4267200" y="34480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4486275" y="35814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5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4867275" y="35909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一次性扣款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219825" y="36099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物资款（按上季价）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工资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经营费，一笔扣清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314825" y="39814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30" name="任意多边形 29"/>
          <p:cNvSpPr/>
          <p:nvPr/>
        </p:nvSpPr>
        <p:spPr>
          <a:xfrm>
            <a:off x="4267200" y="39814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486275" y="41148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6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867275" y="41243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分配与工程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6219825" y="41433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合同交割；本季产品投入在建工程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14825" y="45148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35" name="任意多边形 34"/>
          <p:cNvSpPr/>
          <p:nvPr/>
        </p:nvSpPr>
        <p:spPr>
          <a:xfrm>
            <a:off x="4267200" y="45148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486275" y="46482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7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4867275" y="46577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市场结算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6219825" y="46767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产出按本季成交价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全部卖出，销售收入到账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314825" y="50482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40" name="任意多边形 39"/>
          <p:cNvSpPr/>
          <p:nvPr/>
        </p:nvSpPr>
        <p:spPr>
          <a:xfrm>
            <a:off x="4267200" y="50482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486275" y="51816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8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867275" y="51911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粮食与幸福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219825" y="52101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两档口粮判定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幸福度</a:t>
            </a:r>
            <a:r>
              <a:rPr lang="en-US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H → </a:t>
            </a: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决定下季效率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314825" y="5581650"/>
            <a:ext cx="7239000" cy="48577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45" name="任意多边形 44"/>
          <p:cNvSpPr/>
          <p:nvPr/>
        </p:nvSpPr>
        <p:spPr>
          <a:xfrm>
            <a:off x="4267200" y="5581650"/>
            <a:ext cx="7286625" cy="485775"/>
          </a:xfrm>
          <a:custGeom>
            <a:avLst/>
            <a:gdLst/>
            <a:ahLst/>
            <a:cxnLst/>
            <a:pathLst>
              <a:path w="765" h="51">
                <a:moveTo>
                  <a:pt x="0" y="0"/>
                </a:moveTo>
                <a:lnTo>
                  <a:pt x="5" y="0"/>
                </a:lnTo>
                <a:lnTo>
                  <a:pt x="5" y="51"/>
                </a:lnTo>
                <a:lnTo>
                  <a:pt x="0" y="5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4486275" y="5715000"/>
            <a:ext cx="247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4232B">
                    <a:alpha val="40000"/>
                  </a:srgbClr>
                </a:solidFill>
                <a:latin typeface="Georgia" panose="02040502050405020303"/>
                <a:ea typeface="Georgia" panose="02040502050405020303"/>
              </a:rPr>
              <a:t>9</a:t>
            </a:r>
            <a:endParaRPr lang="en-US" sz="1425" b="1">
              <a:solidFill>
                <a:srgbClr val="14232B">
                  <a:alpha val="40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4867275" y="5724525"/>
            <a:ext cx="1219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税收与结转</a:t>
            </a:r>
            <a:endParaRPr lang="zh-CN" sz="127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6219825" y="574357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>
                <a:solidFill>
                  <a:srgbClr val="14232B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工资税回流；生成财报与新闻；季末零库存</a:t>
            </a:r>
            <a:endParaRPr lang="zh-CN" sz="1090">
              <a:solidFill>
                <a:srgbClr val="14232B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二章 · 玩法&lt;/Text&gt;&#10;    &lt;Text style={{ fontSize: 34, fontWeight: 'bold', color: '#14232B' }}&gt;地块：三种决策，锁在同一张图上&lt;/Text&gt;&#10;  &lt;/Box&gt;&#10;  &lt;Box style={{ position: 'absolute', left: 72, top: 132, width: 1136, height: 290 }}&gt;&#10;    &lt;Image src=&quot;assets/plots_iso.png&quot; style={{ width: 1136, height: 290, objectFit: 'cover', borderRadius: 3 }} /&gt;&#10;    &lt;Box style={{ position: 'absolute', left: 0, bottom: 0, background: 'rgba(20,35,43,0.82)', padding: '8px 16px' }}&gt;&#10;      &lt;Text style={{ fontSize: 13, color: '#F4F0E6', letterSpacing: 1.5 }}&gt;五类地块：农业 / 资源 / 工业 / 服务 / 研究 · 三级 · 工期 1–5 季&lt;/Text&gt;&#10;    &lt;/Box&gt;&#10;  &lt;/Box&gt;&#10;  &lt;Box style={{ position: 'absolute', left: 72, top: 448, width: 1136, flexDirection: 'row', gap: 0, height: 180 }}&gt;&#10;    &lt;Box style={{ flex: 1, flexDirection: 'column', gap: 10, paddingRight: 26 }}&gt;&#10;      &lt;Text style={{ fontSize: 13, letterSpacing: 3, color: '#D9622B', fontWeight: 'bold' }}&gt;建后不可改&lt;/Text&gt;&#10;      &lt;Text style={{ fontSize: 16.5, color: 'rgba(20,35,43,0.75)', lineHeight: 1.7 }}&gt;产出与路线在建造时选定，之后只读。想换？拆了重建。开局第一笔，就是对整条路线的承诺。&lt;/Text&gt;&#10;    &lt;/Box&gt;&#10;    &lt;Box style={{ width: 1, background: 'rgba(20,35,43,0.16)' }} /&gt;&#10;    &lt;Box style={{ flex: 1, flexDirection: 'column', gap: 10, paddingHorizontal: 26 }}&gt;&#10;      &lt;Text style={{ fontSize: 13, letterSpacing: 3, color: '#2C6E6B', fontWeight: 'bold' }}&gt;邻居就是效率&lt;/Text&gt;&#10;      &lt;Text style={{ fontSize: 16.5, color: 'rgba(20,35,43,0.75)', lineHeight: 1.7 }}&gt;8 邻格内关联邻居每个 +5%、封顶 +40%；服务是例外，任何邻居都给它 5–10%。效率是乘法——布局失误会复利放大。&lt;/Text&gt;&#10;    &lt;/Box&gt;&#10;    &lt;Box style={{ width: 1, background: 'rgba(20,35,43,0.16)' }} /&gt;&#10;    &lt;Box style={{ flex: 1, flexDirection: 'column', gap: 10, paddingLeft: 26 }}&gt;&#10;      &lt;Text style={{ fontSize: 13, letterSpacing: 3, color: '#2C6E6B', fontWeight: 'bold' }}&gt;三种决策互相牵制&lt;/Text&gt;&#10;      &lt;Text style={{ fontSize: 16.5, color: 'rgba(20,35,43,0.75)', lineHeight: 1.7 }}&gt;建哪儿决定加成，建什么锁定路线，何时升级占用工期——同一张图上，不存在独立的好决定。&lt;/Text&gt;&#10;    &lt;/Box&gt;&#10;  &lt;/Box&gt;&#10;  &lt;Box style={{ position: 'absolute', left: 72, bottom: 30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07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 2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685800" y="381000"/>
            <a:ext cx="4857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685800" y="609600"/>
            <a:ext cx="48577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地块：三种决策，锁在同一张图上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98" t="35701" b="8232"/>
          <a:stretch>
            <a:fillRect/>
          </a:stretch>
        </p:blipFill>
        <p:spPr>
          <a:xfrm>
            <a:off x="685800" y="1113155"/>
            <a:ext cx="8221980" cy="2886710"/>
          </a:xfrm>
          <a:prstGeom prst="rect">
            <a:avLst/>
          </a:prstGeom>
        </p:spPr>
      </p:pic>
      <p:sp>
        <p:nvSpPr>
          <p:cNvPr id="235" name="矩形 234"/>
          <p:cNvSpPr/>
          <p:nvPr/>
        </p:nvSpPr>
        <p:spPr>
          <a:xfrm>
            <a:off x="685800" y="3714750"/>
            <a:ext cx="4400550" cy="304800"/>
          </a:xfrm>
          <a:prstGeom prst="rect">
            <a:avLst/>
          </a:prstGeom>
          <a:solidFill>
            <a:srgbClr val="14232B">
              <a:alpha val="82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838200" y="3790950"/>
            <a:ext cx="4095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五类地块：农业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工业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三级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工期</a:t>
            </a:r>
            <a:r>
              <a:rPr lang="en-US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975" spc="113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季</a:t>
            </a:r>
            <a:endParaRPr lang="zh-CN" sz="975" spc="113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685800" y="4267200"/>
            <a:ext cx="3352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建后不可改</a:t>
            </a:r>
            <a:endParaRPr lang="zh-CN" sz="975" b="1" spc="225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685800" y="4514850"/>
            <a:ext cx="33528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产出与路线在建造时选定，之后只读。想换？拆了重建。开局第一笔，就是对整条路线的承诺。</a:t>
            </a:r>
            <a:endParaRPr lang="zh-CN" sz="1240">
              <a:solidFill>
                <a:srgbClr val="14232B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矩形 238"/>
          <p:cNvSpPr/>
          <p:nvPr>
            <p:custDataLst>
              <p:tags r:id="rId4"/>
            </p:custDataLst>
          </p:nvPr>
        </p:nvSpPr>
        <p:spPr>
          <a:xfrm>
            <a:off x="4286250" y="4267200"/>
            <a:ext cx="9525" cy="1714500"/>
          </a:xfrm>
          <a:prstGeom prst="rect">
            <a:avLst/>
          </a:prstGeom>
          <a:solidFill>
            <a:srgbClr val="14232B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295775" y="4267200"/>
            <a:ext cx="3600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邻居就是效率</a:t>
            </a:r>
            <a:endParaRPr lang="zh-CN" sz="975" b="1" spc="225">
              <a:solidFill>
                <a:srgbClr val="2C6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4295775" y="4514850"/>
            <a:ext cx="3600450" cy="146748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集聚效应与服务地块</a:t>
            </a:r>
            <a:endParaRPr lang="zh-CN" altLang="en-US" sz="1240">
              <a:solidFill>
                <a:srgbClr val="14232B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比邻地块的产品相关的会有效率增益，服务为周边整体提供效率增益，作为整体乘数</a:t>
            </a:r>
            <a:r>
              <a:rPr lang="zh-CN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40">
              <a:solidFill>
                <a:srgbClr val="14232B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人口粮食</a:t>
            </a:r>
            <a:r>
              <a:rPr lang="en-US" altLang="zh-CN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工资</a:t>
            </a:r>
            <a:r>
              <a:rPr lang="en-US" altLang="zh-CN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幸福度提供</a:t>
            </a:r>
            <a:r>
              <a:rPr lang="zh-CN" altLang="en-US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效率加成</a:t>
            </a:r>
            <a:endParaRPr lang="zh-CN" altLang="en-US" sz="1240">
              <a:solidFill>
                <a:srgbClr val="14232B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矩形 241"/>
          <p:cNvSpPr/>
          <p:nvPr>
            <p:custDataLst>
              <p:tags r:id="rId7"/>
            </p:custDataLst>
          </p:nvPr>
        </p:nvSpPr>
        <p:spPr>
          <a:xfrm>
            <a:off x="7896225" y="4267200"/>
            <a:ext cx="9525" cy="1714500"/>
          </a:xfrm>
          <a:prstGeom prst="rect">
            <a:avLst/>
          </a:prstGeom>
          <a:solidFill>
            <a:srgbClr val="14232B">
              <a:alpha val="16000"/>
            </a:srgbClr>
          </a:solidFill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8153400" y="4267200"/>
            <a:ext cx="3352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三种决策互相牵制</a:t>
            </a:r>
            <a:endParaRPr lang="zh-CN" sz="975" b="1" spc="225">
              <a:solidFill>
                <a:srgbClr val="2C6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8153400" y="4514850"/>
            <a:ext cx="33528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40">
                <a:solidFill>
                  <a:srgbClr val="14232B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建哪儿决定加成，建什么锁定路线，何时升级占用工期——同一张图上，不存在独立的好决定。</a:t>
            </a:r>
            <a:endParaRPr lang="zh-CN" sz="1240">
              <a:solidFill>
                <a:srgbClr val="14232B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685800" y="64293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1096625" y="642937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07 / 11</a:t>
            </a:r>
            <a:endParaRPr lang="en-US" sz="94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二章 · 玩法&lt;/Text&gt;&#10;    &lt;Text style={{ fontSize: 34, fontWeight: 'bold', color: '#14232B' }}&gt;手算一季：两块地，二十多个数字&lt;/Text&gt;&#10;  &lt;/Box&gt;&#10;  &lt;Box style={{ position: 'absolute', left: 72, top: 138, width: 680, height: 505, flexDirection: 'column', background: '#FFFFFF', border: '1px solid rgba(20,35,43,0.14)' }}&gt;&#10;    &lt;Box style={{ flexDirection: 'row', alignItems: 'center', height: 40, background: '#14232B', padding: '0 20px' }}&gt;&#10;      &lt;Text style={{ fontSize: 14.5, color: '#F4F0E6', width: 190, fontWeight: 'bold' }}&gt;结算项目&lt;/Text&gt;&#10;      &lt;Text style={{ fontSize: 14.5, color: 'rgba(244,240,230,0.75)', flex: 1, textAlign: 'right' }}&gt;甲 · 资源地（F）&lt;/Text&gt;&#10;      &lt;Text style={{ fontSize: 14.5, color: 'rgba(244,240,230,0.75)', flex: 1.4, textAlign: 'right' }}&gt;乙 · 工厂（G）&lt;/Text&gt;&#10;    &lt;/Box&gt;&#10;    {[&#10;      ['产出（= 本季供给 X）', 'F × 4', 'G × 5', 0],&#10;      ['商品投入', '—', 'C×2 + D×1 + F×3', 0],&#10;      ['原料费（按参考价）', '0', '130', 0],&#10;      ['工资', '36', '45', 0],&#10;      ['经营费', '30', '40', 0],&#10;      ['生产总支出', '66', '215', 1],&#10;      ['曲线斜率 s + d', '12.5', '9.642857', 0],&#10;      ['成交价 P（本季）', '23.68', '55.481481', 2],&#10;      ['销售收入', '94.72', '277.407407', 0],&#10;      ['工资税回流', '3.60', '4.50', 0],&#10;      ['期末现金', '1032.32', '1066.907407', 0],&#10;      ['增加值', '66', '110', 1],&#10;    ].map(([label, a, b, hot], i) =&gt; (&#10;      &lt;Box key={label} style={{ flexDirection: 'row', alignItems: 'center', height: 37, padding: '0 20px', background: hot ? 'rgba(217,98,43,0.07)' : 'transparent', borderTop: i === 11 ? '2px solid rgba(20,35,43,0.5)' : '1px solid rgba(20,35,43,0.1)' }}&gt;&#10;        &lt;Text style={{ fontSize: 15, color: hot ? '#14232B' : 'rgba(20,35,43,0.72)', width: 190, fontWeight: hot ? 'bold' : 'normal' }}&gt;{label}&lt;/Text&gt;&#10;        &lt;Text style={{ fontSize: 15, fontFamily: 'Georgia, serif', color: hot === 2 ? '#D9622B' : '#14232B', flex: 1, textAlign: 'right', fontWeight: hot ? 'bold' : 'normal' }}&gt;{a}&lt;/Text&gt;&#10;        &lt;Text style={{ fontSize: 15, fontFamily: 'Georgia, serif', color: hot === 2 ? '#D9622B' : '#14232B', flex: 1.4, textAlign: 'right', fontWeight: hot ? 'bold' : 'normal' }}&gt;{b}&lt;/Text&gt;&#10;      &lt;/Box&gt;&#10;    ))}&#10;  &lt;/Box&gt;&#10;  &lt;Box style={{ position: 'absolute', right: 72, top: 138, width: 410, height: 505, flexDirection: 'column' }}&gt;&#10;    &lt;Text style={{ fontSize: 14, letterSpacing: 4, color: 'rgba(20,35,43,0.5)' }}&gt;这一季创造的价值&lt;/Text&gt;&#10;    &lt;Text style={{ fontSize: 124, fontWeight: 'bold', fontFamily: 'Georgia, serif', color: '#D9622B', lineHeight: 1.05 }}&gt;176&lt;/Text&gt;&#10;    &lt;Text style={{ fontSize: 18, color: '#14232B', fontWeight: 'bold' }}&gt;增加值合计（甲 66 + 乙 110）&lt;/Text&gt;&#10;    &lt;Box style={{ width: 48, height: 4, background: '#D9622B', marginTop: 16 }} /&gt;&#10;    &lt;Text style={{ fontSize: 17, color: 'rgba(20,35,43,0.72)', lineHeight: 1.75, marginTop: 14 }}&gt;这已经是最简单的一季：两块地、没有邻接加成、没有口粮、没有合同。真实对局还要叠上效率四分量、两档粮食和九个阶段——你不会想在回合内手算它，但引擎每一季都在算。&lt;/Text&gt;&#10;    &lt;Box style={{ marginTop: 'auto', background: 'rgba(44,110,107,0.1)', padding: '14px 18px' }}&gt;&#10;      &lt;Text style={{ fontSize: 14, color: '#2C6E6B', lineHeight: 1.6, fontWeight: 'bold' }}&gt;所有数字来自规则基线 §8.1 验收测试，可逐项复核。&lt;/Text&gt;&#10;    &lt;/Box&gt;&#10;  &lt;/Box&gt;&#10;  &lt;Box style={{ position: 'absolute', left: 72, bottom: 30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08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矩形 2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381000"/>
            <a:ext cx="4857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685800" y="609600"/>
            <a:ext cx="48577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手算一季：两块地，二十多个数字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685800" y="1314450"/>
            <a:ext cx="6477000" cy="4810125"/>
          </a:xfrm>
          <a:prstGeom prst="rect">
            <a:avLst/>
          </a:prstGeom>
          <a:solidFill>
            <a:srgbClr val="FFFFFF"/>
          </a:solidFill>
          <a:ln w="12700">
            <a:solidFill>
              <a:srgbClr val="14232B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2" name="矩形 251"/>
          <p:cNvSpPr/>
          <p:nvPr/>
        </p:nvSpPr>
        <p:spPr>
          <a:xfrm>
            <a:off x="685800" y="1314450"/>
            <a:ext cx="6477000" cy="381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876300" y="141922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结算项目</a:t>
            </a:r>
            <a:endParaRPr lang="zh-CN" sz="1090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2686050" y="141922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甲</a:t>
            </a:r>
            <a:r>
              <a:rPr lang="en-US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资源地（</a:t>
            </a:r>
            <a:r>
              <a:rPr lang="en-US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90">
              <a:solidFill>
                <a:srgbClr val="F4F0E6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4476750" y="141922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乙</a:t>
            </a:r>
            <a:r>
              <a:rPr lang="en-US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工厂（</a:t>
            </a:r>
            <a:r>
              <a:rPr lang="en-US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</a:t>
            </a:r>
            <a:r>
              <a:rPr lang="zh-CN" sz="1090">
                <a:solidFill>
                  <a:srgbClr val="F4F0E6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90">
              <a:solidFill>
                <a:srgbClr val="F4F0E6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685800" y="169545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876300" y="179070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产出（</a:t>
            </a:r>
            <a:r>
              <a:rPr lang="en-US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本季供给</a:t>
            </a:r>
            <a:r>
              <a:rPr lang="en-US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X</a:t>
            </a: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2686050" y="179070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F × 4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4476750" y="179070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G × 5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60" name="任意多边形 259"/>
          <p:cNvSpPr/>
          <p:nvPr/>
        </p:nvSpPr>
        <p:spPr>
          <a:xfrm>
            <a:off x="685800" y="204787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876300" y="214312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商品投入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2686050" y="214312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—</a:t>
            </a:r>
            <a:endParaRPr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4476750" y="214312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C×2 + D×1 + F×3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64" name="任意多边形 263"/>
          <p:cNvSpPr/>
          <p:nvPr/>
        </p:nvSpPr>
        <p:spPr>
          <a:xfrm>
            <a:off x="685800" y="240030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876300" y="249555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原料费（按参考价）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2686050" y="249555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4476750" y="249555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130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68" name="任意多边形 267"/>
          <p:cNvSpPr/>
          <p:nvPr/>
        </p:nvSpPr>
        <p:spPr>
          <a:xfrm>
            <a:off x="685800" y="275272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876300" y="284797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工资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2686050" y="284797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36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4476750" y="284797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45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72" name="任意多边形 271"/>
          <p:cNvSpPr/>
          <p:nvPr/>
        </p:nvSpPr>
        <p:spPr>
          <a:xfrm>
            <a:off x="685800" y="310515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876300" y="320040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经营费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2686050" y="320040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30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4476750" y="320040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40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76" name="矩形 275"/>
          <p:cNvSpPr/>
          <p:nvPr/>
        </p:nvSpPr>
        <p:spPr>
          <a:xfrm>
            <a:off x="685800" y="3467100"/>
            <a:ext cx="6477000" cy="342900"/>
          </a:xfrm>
          <a:prstGeom prst="rect">
            <a:avLst/>
          </a:prstGeom>
          <a:solidFill>
            <a:srgbClr val="D9622B">
              <a:alpha val="7000"/>
            </a:srgbClr>
          </a:solidFill>
        </p:spPr>
        <p:txBody>
          <a:bodyPr/>
          <a:p/>
        </p:txBody>
      </p:sp>
      <p:sp>
        <p:nvSpPr>
          <p:cNvPr id="277" name="任意多边形 276"/>
          <p:cNvSpPr/>
          <p:nvPr/>
        </p:nvSpPr>
        <p:spPr>
          <a:xfrm>
            <a:off x="685800" y="345757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876300" y="355282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生产总支出</a:t>
            </a:r>
            <a:endParaRPr lang="zh-CN" sz="112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2686050" y="355282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66</a:t>
            </a:r>
            <a:endParaRPr lang="en-US" sz="1125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4476750" y="355282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215</a:t>
            </a:r>
            <a:endParaRPr lang="en-US" sz="1125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81" name="任意多边形 280"/>
          <p:cNvSpPr/>
          <p:nvPr/>
        </p:nvSpPr>
        <p:spPr>
          <a:xfrm>
            <a:off x="685800" y="381000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876300" y="390525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曲线斜率</a:t>
            </a:r>
            <a:r>
              <a:rPr lang="en-US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 + d</a:t>
            </a:r>
            <a:endParaRPr lang="en-US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2686050" y="390525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12.5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4476750" y="390525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9.642857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685800" y="4171950"/>
            <a:ext cx="6477000" cy="342900"/>
          </a:xfrm>
          <a:prstGeom prst="rect">
            <a:avLst/>
          </a:prstGeom>
          <a:solidFill>
            <a:srgbClr val="D9622B">
              <a:alpha val="7000"/>
            </a:srgbClr>
          </a:solidFill>
        </p:spPr>
        <p:txBody>
          <a:bodyPr/>
          <a:p/>
        </p:txBody>
      </p:sp>
      <p:sp>
        <p:nvSpPr>
          <p:cNvPr id="286" name="任意多边形 285"/>
          <p:cNvSpPr/>
          <p:nvPr/>
        </p:nvSpPr>
        <p:spPr>
          <a:xfrm>
            <a:off x="685800" y="416242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76300" y="425767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成交价</a:t>
            </a:r>
            <a:r>
              <a:rPr lang="en-US" sz="112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 P</a:t>
            </a:r>
            <a:r>
              <a:rPr lang="zh-CN" sz="112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（本季）</a:t>
            </a:r>
            <a:endParaRPr lang="zh-CN" sz="112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2686050" y="425767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23.68</a:t>
            </a:r>
            <a:endParaRPr lang="en-US" sz="1125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4476750" y="425767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55.481481</a:t>
            </a:r>
            <a:endParaRPr lang="en-US" sz="1125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90" name="任意多边形 289"/>
          <p:cNvSpPr/>
          <p:nvPr/>
        </p:nvSpPr>
        <p:spPr>
          <a:xfrm>
            <a:off x="685800" y="451485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76300" y="461010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销售收入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2686050" y="461010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94.72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4476750" y="461010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277.407407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94" name="任意多边形 293"/>
          <p:cNvSpPr/>
          <p:nvPr/>
        </p:nvSpPr>
        <p:spPr>
          <a:xfrm>
            <a:off x="685800" y="486727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76300" y="4962525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工资税回流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2686050" y="4962525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3.60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4476750" y="4962525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4.50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685800" y="5219700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14232B">
              <a:alpha val="10000"/>
            </a:srgbClr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76300" y="531495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期末现金</a:t>
            </a:r>
            <a:endParaRPr lang="zh-CN" sz="112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2686050" y="531495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1032.32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4476750" y="531495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1066.907407</a:t>
            </a:r>
            <a:endParaRPr lang="en-US" sz="1125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02" name="矩形 301"/>
          <p:cNvSpPr/>
          <p:nvPr/>
        </p:nvSpPr>
        <p:spPr>
          <a:xfrm>
            <a:off x="685800" y="5591175"/>
            <a:ext cx="6477000" cy="333375"/>
          </a:xfrm>
          <a:prstGeom prst="rect">
            <a:avLst/>
          </a:prstGeom>
          <a:solidFill>
            <a:srgbClr val="D9622B">
              <a:alpha val="7000"/>
            </a:srgbClr>
          </a:solidFill>
        </p:spPr>
        <p:txBody>
          <a:bodyPr/>
          <a:p/>
        </p:txBody>
      </p:sp>
      <p:sp>
        <p:nvSpPr>
          <p:cNvPr id="303" name="任意多边形 302"/>
          <p:cNvSpPr/>
          <p:nvPr/>
        </p:nvSpPr>
        <p:spPr>
          <a:xfrm>
            <a:off x="685800" y="5572125"/>
            <a:ext cx="6477000" cy="352425"/>
          </a:xfrm>
          <a:custGeom>
            <a:avLst/>
            <a:gdLst/>
            <a:ahLst/>
            <a:cxnLst/>
            <a:pathLst>
              <a:path w="680" h="37">
                <a:moveTo>
                  <a:pt x="0" y="0"/>
                </a:moveTo>
                <a:lnTo>
                  <a:pt x="680" y="0"/>
                </a:lnTo>
                <a:lnTo>
                  <a:pt x="680" y="2"/>
                </a:lnTo>
                <a:lnTo>
                  <a:pt x="0" y="2"/>
                </a:lnTo>
                <a:close/>
              </a:path>
            </a:pathLst>
          </a:custGeom>
          <a:solidFill>
            <a:srgbClr val="14232B">
              <a:alpha val="50000"/>
            </a:srgbClr>
          </a:solidFill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76300" y="5676900"/>
            <a:ext cx="1809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增加值</a:t>
            </a:r>
            <a:endParaRPr lang="zh-CN" sz="1125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2686050" y="5676900"/>
            <a:ext cx="179070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66</a:t>
            </a:r>
            <a:endParaRPr lang="en-US" sz="1125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4476750" y="5676900"/>
            <a:ext cx="2495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110</a:t>
            </a:r>
            <a:endParaRPr lang="en-US" sz="1125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7600950" y="1314450"/>
            <a:ext cx="3905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14232B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这一季创造的价值</a:t>
            </a:r>
            <a:endParaRPr lang="zh-CN" sz="1050" spc="300">
              <a:solidFill>
                <a:srgbClr val="14232B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600950" y="1476375"/>
            <a:ext cx="3905250" cy="1495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300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176</a:t>
            </a:r>
            <a:endParaRPr lang="en-US" sz="9300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600950" y="2971800"/>
            <a:ext cx="3905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增加值合计（甲</a:t>
            </a:r>
            <a:r>
              <a:rPr lang="en-US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 66 + </a:t>
            </a: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乙</a:t>
            </a:r>
            <a:r>
              <a:rPr lang="en-US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 110</a:t>
            </a:r>
            <a:r>
              <a:rPr lang="zh-CN" sz="13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3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矩形 309"/>
          <p:cNvSpPr/>
          <p:nvPr/>
        </p:nvSpPr>
        <p:spPr>
          <a:xfrm>
            <a:off x="7600950" y="3333750"/>
            <a:ext cx="457200" cy="381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600950" y="3505200"/>
            <a:ext cx="3905250" cy="1362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14232B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这已经是最简单的一季：两块地、没有邻接加成、没有口粮、没有合同。真实对局还要叠上效率四分量、两档粮食和九个阶段——你不会想在回合内手算它，但引擎每一季都在算。</a:t>
            </a:r>
            <a:endParaRPr lang="zh-CN" sz="1275">
              <a:solidFill>
                <a:srgbClr val="14232B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7600950" y="5600700"/>
            <a:ext cx="3905250" cy="523875"/>
          </a:xfrm>
          <a:prstGeom prst="rect">
            <a:avLst/>
          </a:prstGeom>
          <a:solidFill>
            <a:srgbClr val="2C6E6B">
              <a:alpha val="10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772400" y="5734050"/>
            <a:ext cx="3562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所有数字来自规则基线</a:t>
            </a:r>
            <a:r>
              <a:rPr lang="en-US" sz="1050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 §8.1 </a:t>
            </a:r>
            <a:r>
              <a:rPr lang="zh-CN" sz="1050" b="1">
                <a:solidFill>
                  <a:srgbClr val="2C6E6B"/>
                </a:solidFill>
                <a:latin typeface="微软雅黑" panose="020B0503020204020204" charset="-122"/>
                <a:ea typeface="微软雅黑" panose="020B0503020204020204" charset="-122"/>
              </a:rPr>
              <a:t>验收测试，可逐项复核。</a:t>
            </a:r>
            <a:endParaRPr lang="zh-CN" sz="1050" b="1">
              <a:solidFill>
                <a:srgbClr val="2C6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64293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11096625" y="642937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08 / 11</a:t>
            </a:r>
            <a:endParaRPr lang="en-US" sz="94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" descr="&lt;Slide style={{ width: 1280, height: 720, background: '#14232B', position: 'relative', overflow: 'hidden' }}&gt;&#10;  &lt;Box style={{ position: 'absolute', left: 0, top: 0, width: 1280, height: 720, background: 'linear-gradient(160deg, #14232B 0%, #1E3540 100%)' }} /&gt;&#10;  &lt;Text style={{ position: 'absolute', right: 64, top: 96, fontSize: 320, fontWeight: 'bold', fontFamily: 'Georgia, serif', color: 'rgba(244,240,230,0.14)', lineHeight: 1 }}&gt;03&lt;/Text&gt;&#10;  &lt;Box style={{ position: 'absolute', left: 72, top: 150, width: 640, flexDirection: 'column', gap: 22 }}&gt;&#10;    &lt;Text style={{ fontSize: 14, letterSpacing: 5, color: 'rgba(244,240,230,0.55)' }}&gt;第三章 · CHAPTER 03&lt;/Text&gt;&#10;    &lt;Text style={{ fontSize: 66, fontWeight: 'bold', color: '#F4F0E6', fontFamily: &quot;Georgia, 'Source Han Serif SC', SimSun, serif&quot; }}&gt;秘书&lt;/Text&gt;&#10;    &lt;Box style={{ width: 56, height: 4, background: '#D9622B' }} /&gt;&#10;    &lt;Text style={{ fontSize: 24, color: 'rgba(244,240,230,0.82)', lineHeight: 1.65 }}&gt;既然算不清，就分工：&lt;br /&gt;人做判断，机器做算术。&lt;/Text&gt;&#10;    &lt;Box style={{ flexDirection: 'row', gap: 20, marginTop: 18, alignItems: 'center' }}&gt;&#10;      &lt;Box style={{ background: 'rgba(244,240,230,0.06)', border: '1px solid rgba(244,240,230,0.22)', padding: '16px 20px', width: 240, flexDirection: 'column', gap: 6 }}&gt;&#10;        &lt;Text style={{ fontSize: 13, letterSpacing: 3, color: 'rgba(244,240,230,0.5)' }}&gt;玩家&lt;/Text&gt;&#10;        &lt;Text style={{ fontSize: 18, color: '#F4F0E6', fontWeight: 'bold' }}&gt;决定往哪儿走&lt;/Text&gt;&#10;      &lt;/Box&gt;&#10;      &lt;svg width={80} height={24} viewBox='0 0 80 24'&gt;&#10;        &lt;line x1={0} y1={12} x2={66} y2={12} stroke='#D9622B' strokeWidth={2} /&gt;&#10;        &lt;path d='M 66 6 L 78 12 L 66 18 Z' fill='#D9622B' /&gt;&#10;      &lt;/svg&gt;&#10;      &lt;Box style={{ background: 'rgba(244,240,230,0.06)', border: '1px solid rgba(244,240,230,0.22)', padding: '16px 20px', width: 240, flexDirection: 'column', gap: 6 }}&gt;&#10;        &lt;Text style={{ fontSize: 13, letterSpacing: 3, color: 'rgba(244,240,230,0.5)' }}&gt;AI 秘书&lt;/Text&gt;&#10;        &lt;Text style={{ fontSize: 18, color: '#F4F0E6', fontWeight: 'bold' }}&gt;算清楚怎么走&lt;/Text&gt;&#10;      &lt;/Box&gt;&#10;    &lt;/Box&gt;&#10;  &lt;/Box&gt;&#10;  &lt;Box style={{ position: 'absolute', left: 72, right: 72, bottom: 96, flexDirection: 'column', gap: 16 }}&gt;&#10;    &lt;Box style={{ height: 1, background: 'rgba(244,240,230,0.18)' }} /&gt;&#10;    &lt;Box style={{ flexDirection: 'row', justifyContent: 'space-between', alignItems: 'center' }}&gt;&#10;      &lt;Box style={{ flexDirection: 'row', alignItems: 'center', gap: 12, opacity: 0.45 }}&gt;&#10;        &lt;Text style={{ fontSize: 20, fontWeight: 'bold', color: '#F4F0E6', fontFamily: 'Georgia, serif' }}&gt;01&lt;/Text&gt;&#10;        &lt;Text style={{ fontSize: 17, color: '#F4F0E6' }}&gt;两难&lt;/Text&gt;&#10;      &lt;/Box&gt;&#10;      &lt;Box style={{ flexDirection: 'row', alignItems: 'center', gap: 12, opacity: 0.45 }}&gt;&#10;        &lt;Text style={{ fontSize: 20, fontWeight: 'bold', color: '#F4F0E6', fontFamily: 'Georgia, serif' }}&gt;02&lt;/Text&gt;&#10;        &lt;Text style={{ fontSize: 17, color: '#F4F0E6' }}&gt;玩法&lt;/Text&gt;&#10;      &lt;/Box&gt;&#10;      &lt;Box style={{ flexDirection: 'row', alignItems: 'center', gap: 12 }}&gt;&#10;        &lt;Text style={{ fontSize: 20, fontWeight: 'bold', color: '#D9622B', fontFamily: 'Georgia, serif' }}&gt;03&lt;/Text&gt;&#10;        &lt;Text style={{ fontSize: 17, color: '#F4F0E6', fontWeight: 'bold' }}&gt;秘书&lt;/Text&gt;&#10;      &lt;/Box&gt;&#10;    &lt;/Box&gt;&#10;  &lt;/Box&gt;&#10;  &lt;Box style={{ position: 'absolute', left: 72, bottom: 42, flexDirection: 'row', alignItems: 'center', gap: 12 }}&gt;&#10;    &lt;Box style={{ width: 22, height: 22, background: '#D9622B' }} /&gt;&#10;    &lt;Text style={{ fontSize: 13, letterSpacing: 2, color: 'rgba(244,240,230,0.5)' }}&gt;REGION SIM · 2026.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矩形 3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318" name="矩形 3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232B"/>
              </a:gs>
              <a:gs pos="100000">
                <a:srgbClr val="1E3540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7534275" y="914400"/>
            <a:ext cx="404812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F4F0E6">
                    <a:alpha val="14000"/>
                  </a:srgbClr>
                </a:solidFill>
                <a:latin typeface="Georgia" panose="02040502050405020303"/>
                <a:ea typeface="Georgia" panose="02040502050405020303"/>
              </a:rPr>
              <a:t>03</a:t>
            </a:r>
            <a:endParaRPr lang="en-US" sz="24000" b="1">
              <a:solidFill>
                <a:srgbClr val="F4F0E6">
                  <a:alpha val="14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85800" y="1428750"/>
            <a:ext cx="6096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050" spc="375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CHAPTER 03</a:t>
            </a:r>
            <a:endParaRPr lang="en-US" sz="1050" spc="375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685800" y="1800225"/>
            <a:ext cx="6096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秘书</a:t>
            </a:r>
            <a:endParaRPr lang="zh-CN" sz="495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685800" y="2771775"/>
            <a:ext cx="533400" cy="381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685800" y="3019425"/>
            <a:ext cx="609600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既然算不清，就分工：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5000"/>
              </a:lnSpc>
            </a:pPr>
            <a:r>
              <a:rPr lang="zh-CN" sz="1800">
                <a:solidFill>
                  <a:srgbClr val="F4F0E6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人做判断，机器做算术。</a:t>
            </a:r>
            <a:endParaRPr lang="zh-CN" sz="1800">
              <a:solidFill>
                <a:srgbClr val="F4F0E6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矩形 323"/>
          <p:cNvSpPr/>
          <p:nvPr/>
        </p:nvSpPr>
        <p:spPr>
          <a:xfrm>
            <a:off x="685800" y="4314825"/>
            <a:ext cx="2286000" cy="723900"/>
          </a:xfrm>
          <a:prstGeom prst="rect">
            <a:avLst/>
          </a:prstGeom>
          <a:solidFill>
            <a:srgbClr val="F4F0E6">
              <a:alpha val="6000"/>
            </a:srgbClr>
          </a:solidFill>
          <a:ln w="12700">
            <a:solidFill>
              <a:srgbClr val="F4F0E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876300" y="4467225"/>
            <a:ext cx="1905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玩家</a:t>
            </a:r>
            <a:endParaRPr lang="zh-CN" sz="975" spc="225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876300" y="4676775"/>
            <a:ext cx="1905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决定往哪儿走</a:t>
            </a:r>
            <a:endParaRPr lang="zh-CN" sz="1350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7" name="图片 3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2300" y="4562475"/>
            <a:ext cx="762000" cy="228600"/>
          </a:xfrm>
          <a:prstGeom prst="rect">
            <a:avLst/>
          </a:prstGeom>
        </p:spPr>
      </p:pic>
      <p:sp>
        <p:nvSpPr>
          <p:cNvPr id="328" name="矩形 327"/>
          <p:cNvSpPr/>
          <p:nvPr/>
        </p:nvSpPr>
        <p:spPr>
          <a:xfrm>
            <a:off x="4114800" y="4314825"/>
            <a:ext cx="2286000" cy="723900"/>
          </a:xfrm>
          <a:prstGeom prst="rect">
            <a:avLst/>
          </a:prstGeom>
          <a:solidFill>
            <a:srgbClr val="F4F0E6">
              <a:alpha val="6000"/>
            </a:srgbClr>
          </a:solidFill>
          <a:ln w="12700">
            <a:solidFill>
              <a:srgbClr val="F4F0E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4305300" y="4467225"/>
            <a:ext cx="1905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975" spc="225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秘书</a:t>
            </a:r>
            <a:endParaRPr lang="zh-CN" sz="975" spc="225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305300" y="4676775"/>
            <a:ext cx="1905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算清楚怎么走</a:t>
            </a:r>
            <a:endParaRPr lang="zh-CN" sz="1350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685800" y="5553075"/>
            <a:ext cx="10820400" cy="9525"/>
          </a:xfrm>
          <a:prstGeom prst="rect">
            <a:avLst/>
          </a:prstGeom>
          <a:solidFill>
            <a:srgbClr val="F4F0E6">
              <a:alpha val="18000"/>
            </a:srgbClr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10810875" y="5715000"/>
            <a:ext cx="25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03</a:t>
            </a:r>
            <a:endParaRPr lang="en-US" sz="1500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11182350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秘书</a:t>
            </a:r>
            <a:endParaRPr lang="zh-CN" sz="1275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85800" y="5715000"/>
            <a:ext cx="22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4F0E6">
                    <a:alpha val="45000"/>
                  </a:srgbClr>
                </a:solidFill>
                <a:latin typeface="Georgia" panose="02040502050405020303"/>
                <a:ea typeface="Georgia" panose="02040502050405020303"/>
              </a:rPr>
              <a:t>01</a:t>
            </a:r>
            <a:endParaRPr lang="en-US" sz="1500" b="1">
              <a:solidFill>
                <a:srgbClr val="F4F0E6">
                  <a:alpha val="45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1028700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4F0E6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两难</a:t>
            </a:r>
            <a:endParaRPr lang="zh-CN" sz="1275">
              <a:solidFill>
                <a:srgbClr val="F4F0E6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734050" y="5715000"/>
            <a:ext cx="25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4F0E6">
                    <a:alpha val="45000"/>
                  </a:srgbClr>
                </a:solidFill>
                <a:latin typeface="Georgia" panose="02040502050405020303"/>
                <a:ea typeface="Georgia" panose="02040502050405020303"/>
              </a:rPr>
              <a:t>02</a:t>
            </a:r>
            <a:endParaRPr lang="en-US" sz="1500" b="1">
              <a:solidFill>
                <a:srgbClr val="F4F0E6">
                  <a:alpha val="45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6105525" y="57340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4F0E6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</a:t>
            </a:r>
            <a:endParaRPr lang="zh-CN" sz="1275">
              <a:solidFill>
                <a:srgbClr val="F4F0E6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685800" y="6248400"/>
            <a:ext cx="209550" cy="20955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009650" y="6276975"/>
            <a:ext cx="1695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4F0E6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REGION SIM · 2026.10</a:t>
            </a:r>
            <a:endParaRPr lang="en-US" sz="975" spc="150">
              <a:solidFill>
                <a:srgbClr val="F4F0E6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&lt;Slide style={{ width: 1280, height: 720, background: '#F4F0E6', position: 'relative' }}&gt;&#10;  &lt;Box style={{ position: 'absolute', left: 72, top: 40, flexDirection: 'column', gap: 8 }}&gt;&#10;    &lt;Text style={{ fontSize: 13, letterSpacing: 4, color: 'rgba(20,35,43,0.45)' }}&gt;第三章 · 秘书&lt;/Text&gt;&#10;    &lt;Text style={{ fontSize: 34, fontWeight: 'bold', color: '#14232B' }}&gt;秘书做的四件事，和一件绝不做的事&lt;/Text&gt;&#10;  &lt;/Box&gt;&#10;  &lt;Box style={{ position: 'absolute', left: 72, top: 150, width: 330, height: 480, flexDirection: 'column', gap: 16 }}&gt;&#10;    &lt;Text style={{ fontSize: 26, fontWeight: 'bold', color: '#14232B', lineHeight: 1.55, fontFamily: &quot;Georgia, 'Source Han Serif SC', SimSun, serif&quot; }}&gt;它不替你玩，&lt;br /&gt;它让你玩得动。&lt;/Text&gt;&#10;    &lt;Box style={{ width: 48, height: 4, background: '#D9622B' }} /&gt;&#10;    &lt;Text style={{ fontSize: 16.5, color: 'rgba(20,35,43,0.68)', lineHeight: 1.8 }}&gt;秘书的一切输出都来自游戏自己的规则库和引擎——它引用的每个数字都有出处，每次试算走的都是真实结算的同一套代码。&lt;/Text&gt;&#10;    &lt;Box style={{ marginTop: 'auto', background: '#14232B', padding: '16px 18px', flexDirection: 'column', gap: 6 }}&gt;&#10;      &lt;Text style={{ fontSize: 14, color: '#D9622B', fontWeight: 'bold', letterSpacing: 2 }}&gt;一件绝不做的事&lt;/Text&gt;&#10;      &lt;Text style={{ fontSize: 15, color: 'rgba(244,240,230,0.85)', lineHeight: 1.65 }}&gt;它永远不能替你按下&quot;提交&quot;。&lt;/Text&gt;&#10;    &lt;/Box&gt;&#10;  &lt;/Box&gt;&#10;  &lt;Box style={{ position: 'absolute', left: 448, top: 150, width: 760, height: 480, flexDirection: 'column', gap: 10 }}&gt;&#10;    {[&#10;      ['问', '解释规则', '这条公式为什么这么算？', '回答引用规则条款，算不出出处的问题不编数字——它说 32，规则里就写着 32。'],&#10;      ['算', '试算一季', '如果这样摆，季末剩多少？', '试算与真实结算共用同一个引擎：秘书报给你的数，就是你提交后必然得到的数。'],&#10;      ['填', '直接填写', '把我的想法落进复杂表单', '不止列清单——建造队列、开工比例、采购量、口粮档位，直接写进计划表单，缺料、超支当场拦下，你只做核对。'],&#10;      ['盯', '实时提醒', '这步升级划算吗？', '升级差几季回本、市场还能吞多少、现金够不够撑到收款——每季开工前给你三句大实话。'],&#10;    ].map(([icon, name, ask, how]) =&gt; (&#10;      &lt;Box key={name} style={{ flex: 1, flexDirection: 'row', alignItems: 'center', gap: 18, background: 'rgba(20,35,43,0.035)', borderLeft: '4px solid #2C6E6B', padding: '0 22px' }}&gt;&#10;        &lt;Box style={{ width: 46, height: 46, background: '#14232B', alignItems: 'center', justifyContent: 'center' }}&gt;&#10;          &lt;Text style={{ fontSize: 21, fontWeight: 'bold', color: '#F4F0E6', fontFamily: &quot;Georgia, 'Source Han Serif SC', SimSun, serif&quot; }}&gt;{icon}&lt;/Text&gt;&#10;        &lt;/Box&gt;&#10;        &lt;Box style={{ width: 190, flexDirection: 'column', gap: 3 }}&gt;&#10;          &lt;Text style={{ fontSize: 20, fontWeight: 'bold', color: '#14232B' }}&gt;{name}&lt;/Text&gt;&#10;          &lt;Text style={{ fontSize: 14, color: 'rgba(20,35,43,0.55)' }}&gt;{ask}&lt;/Text&gt;&#10;        &lt;/Box&gt;&#10;        &lt;Text style={{ fontSize: 14.5, color: 'rgba(20,35,43,0.68)', flex: 1, lineHeight: 1.6 }}&gt;{how}&lt;/Text&gt;&#10;      &lt;/Box&gt;&#10;    ))}&#10;  &lt;/Box&gt;&#10;  &lt;Box style={{ position: 'absolute', left: 72, bottom: 30, width: 1136, flexDirection: 'row', justifyContent: 'space-between' }}&gt;&#10;    &lt;Text style={{ fontSize: 12.5, color: 'rgba(20,35,43,0.45)', letterSpacing: 1 }}&gt;区域发展模拟 / Region Sim&lt;/Text&gt;&#10;    &lt;Text style={{ fontSize: 12.5, color: 'rgba(20,35,43,0.45)' }}&gt;10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6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685800" y="381000"/>
            <a:ext cx="518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spc="30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秘书</a:t>
            </a:r>
            <a:endParaRPr lang="zh-CN" sz="975" spc="30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685800" y="609600"/>
            <a:ext cx="5181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秘书做的四件事，和一件绝不做的事</a:t>
            </a:r>
            <a:endParaRPr lang="zh-CN" sz="255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85800" y="1428750"/>
            <a:ext cx="3143250" cy="923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它不替你玩，</a:t>
            </a:r>
            <a:endParaRPr lang="zh-CN" sz="1950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  <a:p>
            <a:pPr>
              <a:lnSpc>
                <a:spcPct val="155000"/>
              </a:lnSpc>
            </a:pPr>
            <a:r>
              <a:rPr lang="zh-CN" sz="1950" b="1">
                <a:solidFill>
                  <a:srgbClr val="14232B"/>
                </a:solidFill>
                <a:latin typeface="Georgia" panose="02040502050405020303"/>
                <a:ea typeface="Georgia" panose="02040502050405020303"/>
              </a:rPr>
              <a:t>它让你玩得动。</a:t>
            </a:r>
            <a:endParaRPr lang="zh-CN" sz="1950" b="1">
              <a:solidFill>
                <a:srgbClr val="1423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5800" y="2505075"/>
            <a:ext cx="457200" cy="381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85800" y="2695575"/>
            <a:ext cx="314325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4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秘书的一切输出都来自游戏自己的规则库和引擎——它引用的每个数字都有出处，每次试算走的都是真实结算的同一套代码。</a:t>
            </a:r>
            <a:endParaRPr lang="zh-CN" sz="1240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5800" y="5191125"/>
            <a:ext cx="3143250" cy="809625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857250" y="5343525"/>
            <a:ext cx="2800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一件绝不做的事</a:t>
            </a:r>
            <a:endParaRPr lang="zh-CN" sz="1050" b="1" spc="15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57250" y="5562600"/>
            <a:ext cx="28003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4F0E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它永远不能替你按下</a:t>
            </a:r>
            <a:r>
              <a:rPr lang="en-US" sz="1125">
                <a:solidFill>
                  <a:srgbClr val="F4F0E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F4F0E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sz="1125">
                <a:solidFill>
                  <a:srgbClr val="F4F0E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F4F0E6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F4F0E6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305300" y="1428750"/>
            <a:ext cx="7239000" cy="107632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30" name="任意多边形 29"/>
          <p:cNvSpPr/>
          <p:nvPr/>
        </p:nvSpPr>
        <p:spPr>
          <a:xfrm>
            <a:off x="4267200" y="1428750"/>
            <a:ext cx="7277100" cy="1076325"/>
          </a:xfrm>
          <a:custGeom>
            <a:avLst/>
            <a:gdLst/>
            <a:ahLst/>
            <a:cxnLst/>
            <a:pathLst>
              <a:path w="764" h="113">
                <a:moveTo>
                  <a:pt x="0" y="0"/>
                </a:moveTo>
                <a:lnTo>
                  <a:pt x="4" y="0"/>
                </a:lnTo>
                <a:lnTo>
                  <a:pt x="4" y="113"/>
                </a:lnTo>
                <a:lnTo>
                  <a:pt x="0" y="113"/>
                </a:lnTo>
                <a:close/>
              </a:path>
            </a:pathLst>
          </a:custGeom>
          <a:solidFill>
            <a:srgbClr val="2C6E6B"/>
          </a:soli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4514850" y="1752600"/>
            <a:ext cx="438150" cy="43815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638675" y="1847850"/>
            <a:ext cx="200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问</a:t>
            </a:r>
            <a:endParaRPr lang="zh-CN" sz="1575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124450" y="1762125"/>
            <a:ext cx="1809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解释规则</a:t>
            </a:r>
            <a:endParaRPr lang="zh-CN" sz="150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124450" y="2019300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这条公式为什么这么算？</a:t>
            </a:r>
            <a:endParaRPr lang="zh-CN" sz="1050">
              <a:solidFill>
                <a:srgbClr val="14232B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7105650" y="1704975"/>
            <a:ext cx="4191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回答引用规则条款，算不出出处的问题不编数字——它说</a:t>
            </a:r>
            <a:r>
              <a:rPr lang="en-US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32</a:t>
            </a: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，规则里就写着</a:t>
            </a:r>
            <a:r>
              <a:rPr lang="en-US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32</a:t>
            </a: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90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305300" y="2600325"/>
            <a:ext cx="7239000" cy="1066800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37" name="任意多边形 36"/>
          <p:cNvSpPr/>
          <p:nvPr/>
        </p:nvSpPr>
        <p:spPr>
          <a:xfrm>
            <a:off x="4267200" y="2600325"/>
            <a:ext cx="7277100" cy="1066800"/>
          </a:xfrm>
          <a:custGeom>
            <a:avLst/>
            <a:gdLst/>
            <a:ahLst/>
            <a:cxnLst/>
            <a:pathLst>
              <a:path w="764" h="112">
                <a:moveTo>
                  <a:pt x="0" y="0"/>
                </a:moveTo>
                <a:lnTo>
                  <a:pt x="4" y="0"/>
                </a:lnTo>
                <a:lnTo>
                  <a:pt x="4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2C6E6B"/>
          </a:solidFill>
        </p:spPr>
        <p:txBody>
          <a:bodyPr/>
          <a:p/>
        </p:txBody>
      </p:sp>
      <p:sp>
        <p:nvSpPr>
          <p:cNvPr id="38" name="矩形 37"/>
          <p:cNvSpPr/>
          <p:nvPr/>
        </p:nvSpPr>
        <p:spPr>
          <a:xfrm>
            <a:off x="4514850" y="2914650"/>
            <a:ext cx="438150" cy="43815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638675" y="3009900"/>
            <a:ext cx="200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算</a:t>
            </a:r>
            <a:endParaRPr lang="zh-CN" sz="1575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5124450" y="2924175"/>
            <a:ext cx="1809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试算一季</a:t>
            </a:r>
            <a:endParaRPr lang="zh-CN" sz="150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124450" y="3181350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如果这样摆，季末剩多少？</a:t>
            </a:r>
            <a:endParaRPr lang="zh-CN" sz="1050">
              <a:solidFill>
                <a:srgbClr val="14232B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7105650" y="2867025"/>
            <a:ext cx="4191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试算与真实结算共用同一个引擎：秘书报给你的数，就是你提交后必然得到的数。</a:t>
            </a:r>
            <a:endParaRPr lang="zh-CN" sz="1090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305300" y="3762375"/>
            <a:ext cx="7239000" cy="1076325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44" name="任意多边形 43"/>
          <p:cNvSpPr/>
          <p:nvPr/>
        </p:nvSpPr>
        <p:spPr>
          <a:xfrm>
            <a:off x="4267200" y="3762375"/>
            <a:ext cx="7277100" cy="1076325"/>
          </a:xfrm>
          <a:custGeom>
            <a:avLst/>
            <a:gdLst/>
            <a:ahLst/>
            <a:cxnLst/>
            <a:pathLst>
              <a:path w="764" h="113">
                <a:moveTo>
                  <a:pt x="0" y="0"/>
                </a:moveTo>
                <a:lnTo>
                  <a:pt x="4" y="0"/>
                </a:lnTo>
                <a:lnTo>
                  <a:pt x="4" y="113"/>
                </a:lnTo>
                <a:lnTo>
                  <a:pt x="0" y="113"/>
                </a:lnTo>
                <a:close/>
              </a:path>
            </a:pathLst>
          </a:custGeom>
          <a:solidFill>
            <a:srgbClr val="2C6E6B"/>
          </a:solidFill>
        </p:spPr>
        <p:txBody>
          <a:bodyPr/>
          <a:p/>
        </p:txBody>
      </p:sp>
      <p:sp>
        <p:nvSpPr>
          <p:cNvPr id="45" name="矩形 44"/>
          <p:cNvSpPr/>
          <p:nvPr/>
        </p:nvSpPr>
        <p:spPr>
          <a:xfrm>
            <a:off x="4514850" y="4086225"/>
            <a:ext cx="438150" cy="43815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4638675" y="4181475"/>
            <a:ext cx="200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填</a:t>
            </a:r>
            <a:endParaRPr lang="zh-CN" sz="1575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124450" y="4095750"/>
            <a:ext cx="1809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直接填写</a:t>
            </a:r>
            <a:endParaRPr lang="zh-CN" sz="150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124450" y="43529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把我的想法落进复杂表单</a:t>
            </a:r>
            <a:endParaRPr lang="zh-CN" sz="1050">
              <a:solidFill>
                <a:srgbClr val="14232B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7105650" y="4038600"/>
            <a:ext cx="4191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不止列清单——建造队列、开工比例、采购量、口粮档位，直接写进计划表单，缺料、超支当场拦下，你只做核对。</a:t>
            </a:r>
            <a:endParaRPr lang="zh-CN" sz="1090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305300" y="4933950"/>
            <a:ext cx="7239000" cy="1066800"/>
          </a:xfrm>
          <a:prstGeom prst="rect">
            <a:avLst/>
          </a:prstGeom>
          <a:solidFill>
            <a:srgbClr val="14232B">
              <a:alpha val="3500"/>
            </a:srgbClr>
          </a:solidFill>
        </p:spPr>
        <p:txBody>
          <a:bodyPr/>
          <a:p/>
        </p:txBody>
      </p:sp>
      <p:sp>
        <p:nvSpPr>
          <p:cNvPr id="51" name="任意多边形 50"/>
          <p:cNvSpPr/>
          <p:nvPr/>
        </p:nvSpPr>
        <p:spPr>
          <a:xfrm>
            <a:off x="4267200" y="4933950"/>
            <a:ext cx="7277100" cy="1066800"/>
          </a:xfrm>
          <a:custGeom>
            <a:avLst/>
            <a:gdLst/>
            <a:ahLst/>
            <a:cxnLst/>
            <a:pathLst>
              <a:path w="764" h="112">
                <a:moveTo>
                  <a:pt x="0" y="0"/>
                </a:moveTo>
                <a:lnTo>
                  <a:pt x="4" y="0"/>
                </a:lnTo>
                <a:lnTo>
                  <a:pt x="4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2C6E6B"/>
          </a:solidFill>
        </p:spPr>
        <p:txBody>
          <a:bodyPr/>
          <a:p/>
        </p:txBody>
      </p:sp>
      <p:sp>
        <p:nvSpPr>
          <p:cNvPr id="52" name="矩形 51"/>
          <p:cNvSpPr/>
          <p:nvPr/>
        </p:nvSpPr>
        <p:spPr>
          <a:xfrm>
            <a:off x="4514850" y="5248275"/>
            <a:ext cx="438150" cy="43815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4638675" y="5343525"/>
            <a:ext cx="200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盯</a:t>
            </a:r>
            <a:endParaRPr lang="zh-CN" sz="1575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124450" y="5257800"/>
            <a:ext cx="1809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4232B"/>
                </a:solidFill>
                <a:latin typeface="微软雅黑" panose="020B0503020204020204" charset="-122"/>
                <a:ea typeface="微软雅黑" panose="020B0503020204020204" charset="-122"/>
              </a:rPr>
              <a:t>实时提醒</a:t>
            </a:r>
            <a:endParaRPr lang="zh-CN" sz="1500" b="1">
              <a:solidFill>
                <a:srgbClr val="1423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124450" y="551497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4232B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这步升级划算吗？</a:t>
            </a:r>
            <a:endParaRPr lang="zh-CN" sz="1050">
              <a:solidFill>
                <a:srgbClr val="14232B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105650" y="5200650"/>
            <a:ext cx="4191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>
                <a:solidFill>
                  <a:srgbClr val="14232B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升级差几季回本、市场还能吞多少、现金够不够撑到收款——每季开工前给你三句大实话。</a:t>
            </a:r>
            <a:endParaRPr lang="zh-CN" sz="1090">
              <a:solidFill>
                <a:srgbClr val="14232B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85800" y="6429375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75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Region Sim</a:t>
            </a:r>
            <a:endParaRPr lang="en-US" sz="940" spc="75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1096625" y="6429375"/>
            <a:ext cx="4095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>
                <a:solidFill>
                  <a:srgbClr val="14232B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lang="en-US" sz="940">
              <a:solidFill>
                <a:srgbClr val="14232B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 descr="&lt;Slide style={{ width: 1280, height: 720, background: '#14232B', position: 'relative', overflow: 'hidden' }}&gt;&#10;  &lt;Box style={{ position: 'absolute', left: 0, top: 0, width: 1280, height: 720, background: 'linear-gradient(160deg, #14232B 0%, #1E3540 100%)' }} /&gt;&#10;  &lt;svg width={1280} height={720} viewBox='0 0 1280 720' style={{ position: 'absolute', left: 0, top: 0 }}&gt;&#10;    {[160, 320, 480, 640, 800, 960, 1120].map(x =&gt; (&#10;      &lt;line key={'v'+x} x1={x} y1={0} x2={x} y2={720} stroke='rgba(244,240,230,0.05)' strokeWidth={1} /&gt;&#10;    ))}&#10;    {[120, 240, 360, 480, 600].map(y =&gt; (&#10;      &lt;line key={'h'+y} x1={0} y1={y} x2={1280} y2={y} stroke='rgba(244,240,230,0.05)' strokeWidth={1} /&gt;&#10;    ))}&#10;  &lt;/svg&gt;&#10;  &lt;Box style={{ position: 'absolute', left: 72, top: 62, width: 1136, flexDirection: 'column', gap: 14, alignItems: 'center' }}&gt;&#10;    &lt;Text style={{ fontSize: 14, letterSpacing: 6, color: 'rgba(244,240,230,0.55)' }}&gt;ENDING · 为什么是多人模式&lt;/Text&gt;&#10;    &lt;Text style={{ fontSize: 52, fontWeight: 'bold', color: '#F4F0E6', fontFamily: &quot;Georgia, 'Source Han Serif SC', SimSun, serif&quot;, textAlign: 'center' }}&gt;多人，才是它真正的样子&lt;/Text&gt;&#10;  &lt;/Box&gt;&#10;  &lt;Box style={{ position: 'absolute', left: 72, top: 218, width: 1136, flexDirection: 'row', gap: 24 }}&gt;&#10;    &lt;Box style={{ flex: 1, background: 'rgba(244,240,230,0.06)', border: '1px solid rgba(244,240,230,0.22)', borderTop: '4px solid #D9622B', padding: '28px 30px', flexDirection: 'column', gap: 14, height: 300 }}&gt;&#10;      &lt;Text style={{ fontSize: 27, fontWeight: 'bold', color: '#D9622B', fontFamily: &quot;Georgia, 'Source Han Serif SC', SimSun, serif&quot; }}&gt;市场竞争&lt;/Text&gt;&#10;      &lt;Text style={{ fontSize: 18, color: '#F4F0E6', fontWeight: 'bold', lineHeight: 1.5 }}&gt;每个价格，都有真人跟你抢&lt;/Text&gt;&#10;      &lt;Text style={{ fontSize: 16, color: 'rgba(244,240,230,0.78)', lineHeight: 1.8 }}&gt;你多卖一单位，对手眼里的成交价就掉一格；你抢原料，就在替对手抬成本。供需曲线不再是一条规则，而是一场看得见摸得着的博弈——单人局里它是机制，多人局里它是武器。&lt;/Text&gt;&#10;    &lt;/Box&gt;&#10;    &lt;Box style={{ flex: 1, background: 'rgba(244,240,230,0.06)', border: '1px solid rgba(244,240,230,0.22)', borderTop: '4px solid #2C6E6B', padding: '28px 30px', flexDirection: 'column', gap: 14, height: 300 }}&gt;&#10;      &lt;Text style={{ fontSize: 27, fontWeight: 'bold', color: '#7FB8B4', fontFamily: &quot;Georgia, 'Source Han Serif SC', SimSun, serif&quot; }}&gt;分工分化&lt;/Text&gt;&#10;      &lt;Text style={{ fontSize: 18, color: '#F4F0E6', fontWeight: 'bold', lineHeight: 1.5 }}&gt;没有固定剧本，只有活生生的经济&lt;/Text&gt;&#10;      &lt;Text style={{ fontSize: 16, color: 'rgba(244,240,230,0.78)', lineHeight: 1.8 }}&gt;有人深耕农业、有人垄断工业、有人专做服务——互相依赖、互相抬价、互相卡脖子。每个人只需算好自己那本账，深度来自人与人的互动，而不是规则书的厚度。&lt;/Text&gt;&#10;    &lt;/Box&gt;&#10;  &lt;/Box&gt;&#10;  &lt;Box style={{ position: 'absolute', left: 0, right: 0, bottom: 108, alignItems: 'center' }}&gt;&#10;    &lt;Text style={{ fontSize: 24, color: 'rgba(244,240,230,0.85)', fontFamily: &quot;Georgia, 'Source Han Serif SC', SimSun, serif&quot;, fontWeight: 'bold' }}&gt;把复杂留在引擎里，把判断&lt;span style={{ color: '#D9622B' }}&gt;留给你&lt;/span&gt;。&lt;/Text&gt;&#10;  &lt;/Box&gt;&#10;  &lt;Box style={{ position: 'absolute', left: 0, right: 0, bottom: 56, alignItems: 'center', flexDirection: 'row', gap: 30, justifyContent: 'center' }}&gt;&#10;    &lt;Box style={{ flexDirection: 'row', alignItems: 'center', gap: 10 }}&gt;&#10;      &lt;Box style={{ width: 8, height: 8, background: '#D9622B' }} /&gt;&#10;      &lt;Text style={{ fontSize: 14, color: 'rgba(244,240,230,0.7)', letterSpacing: 2 }}&gt;现场备有可玩 Demo&lt;/Text&gt;&#10;    &lt;/Box&gt;&#10;    &lt;Box style={{ flexDirection: 'row', alignItems: 'center', gap: 10 }}&gt;&#10;      &lt;Box style={{ width: 8, height: 8, background: '#D9622B' }} /&gt;&#10;      &lt;Text style={{ fontSize: 14, color: 'rgba(244,240,230,0.7)', letterSpacing: 2 }}&gt;欢迎上手试一季&lt;/Text&gt;&#10;    &lt;/Box&gt;&#10;  &lt;/Box&gt;&#10;  &lt;Box style={{ position: 'absolute', left: 0, right: 0, bottom: 22, alignItems: 'center' }}&gt;&#10;    &lt;Text style={{ fontSize: 12.5, letterSpacing: 4, color: 'rgba(244,240,230,0.4)' }}&gt;REGION SIM · 区域发展模拟 · 2026.10 · 11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32B"/>
          </a:solidFill>
        </p:spPr>
        <p:txBody>
          <a:bodyPr/>
          <a:p/>
        </p:txBody>
      </p: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232B"/>
              </a:gs>
              <a:gs pos="100000">
                <a:srgbClr val="1E3540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752975" y="590550"/>
            <a:ext cx="2686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0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ENDING · </a:t>
            </a:r>
            <a:r>
              <a:rPr lang="zh-CN" sz="1050" spc="450">
                <a:solidFill>
                  <a:srgbClr val="F4F0E6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为什么是多人模式</a:t>
            </a:r>
            <a:endParaRPr lang="zh-CN" sz="1050" spc="450">
              <a:solidFill>
                <a:srgbClr val="F4F0E6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3371850" y="885825"/>
            <a:ext cx="5448300" cy="600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900" b="1">
                <a:solidFill>
                  <a:srgbClr val="F4F0E6"/>
                </a:solidFill>
                <a:latin typeface="Georgia" panose="02040502050405020303"/>
                <a:ea typeface="Georgia" panose="02040502050405020303"/>
              </a:rPr>
              <a:t>多人，才是它真正的样子</a:t>
            </a:r>
            <a:endParaRPr lang="zh-CN" sz="3900" b="1">
              <a:solidFill>
                <a:srgbClr val="F4F0E6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85800" y="2114550"/>
            <a:ext cx="5295900" cy="2819400"/>
          </a:xfrm>
          <a:prstGeom prst="rect">
            <a:avLst/>
          </a:prstGeom>
          <a:solidFill>
            <a:srgbClr val="F4F0E6">
              <a:alpha val="6000"/>
            </a:srgbClr>
          </a:solidFill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685800" y="2076450"/>
            <a:ext cx="5295900" cy="2857500"/>
          </a:xfrm>
          <a:custGeom>
            <a:avLst/>
            <a:gdLst/>
            <a:ahLst/>
            <a:cxnLst/>
            <a:pathLst>
              <a:path w="556" h="300">
                <a:moveTo>
                  <a:pt x="0" y="0"/>
                </a:moveTo>
                <a:lnTo>
                  <a:pt x="556" y="0"/>
                </a:lnTo>
                <a:lnTo>
                  <a:pt x="556" y="4"/>
                </a:lnTo>
                <a:lnTo>
                  <a:pt x="0" y="4"/>
                </a:lnTo>
                <a:close/>
              </a:path>
            </a:pathLst>
          </a:custGeom>
          <a:solidFill>
            <a:srgbClr val="D9622B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971550" y="2381250"/>
            <a:ext cx="4724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市场竞争</a:t>
            </a:r>
            <a:endParaRPr lang="zh-CN" sz="2025" b="1">
              <a:solidFill>
                <a:srgbClr val="D9622B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971550" y="2828925"/>
            <a:ext cx="4724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每个价格，都有真人跟你抢</a:t>
            </a:r>
            <a:endParaRPr lang="zh-CN" sz="1350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971550" y="3276600"/>
            <a:ext cx="47244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F4F0E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你多卖一单位，对手眼里的成交价就掉一格；你抢原料，就在替对手抬成本。供需曲线不再是一条规则，而是一场看得见摸得着的博弈——单人局里它是机制，多人局里它是武器。</a:t>
            </a:r>
            <a:endParaRPr lang="zh-CN" sz="1200">
              <a:solidFill>
                <a:srgbClr val="F4F0E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210300" y="2114550"/>
            <a:ext cx="5295900" cy="2819400"/>
          </a:xfrm>
          <a:prstGeom prst="rect">
            <a:avLst/>
          </a:prstGeom>
          <a:solidFill>
            <a:srgbClr val="F4F0E6">
              <a:alpha val="6000"/>
            </a:srgbClr>
          </a:solidFill>
        </p:spPr>
        <p:txBody>
          <a:bodyPr/>
          <a:p/>
        </p:txBody>
      </p:sp>
      <p:sp>
        <p:nvSpPr>
          <p:cNvPr id="71" name="任意多边形 70"/>
          <p:cNvSpPr/>
          <p:nvPr/>
        </p:nvSpPr>
        <p:spPr>
          <a:xfrm>
            <a:off x="6210300" y="2076450"/>
            <a:ext cx="5295900" cy="2857500"/>
          </a:xfrm>
          <a:custGeom>
            <a:avLst/>
            <a:gdLst/>
            <a:ahLst/>
            <a:cxnLst/>
            <a:pathLst>
              <a:path w="556" h="300">
                <a:moveTo>
                  <a:pt x="0" y="0"/>
                </a:moveTo>
                <a:lnTo>
                  <a:pt x="556" y="0"/>
                </a:lnTo>
                <a:lnTo>
                  <a:pt x="556" y="4"/>
                </a:lnTo>
                <a:lnTo>
                  <a:pt x="0" y="4"/>
                </a:lnTo>
                <a:close/>
              </a:path>
            </a:pathLst>
          </a:custGeom>
          <a:solidFill>
            <a:srgbClr val="2C6E6B"/>
          </a:solidFill>
        </p:spPr>
        <p:txBody>
          <a:bodyPr/>
          <a:p/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496050" y="2381250"/>
            <a:ext cx="4724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7FB8B4"/>
                </a:solidFill>
                <a:latin typeface="Georgia" panose="02040502050405020303"/>
                <a:ea typeface="Georgia" panose="02040502050405020303"/>
              </a:rPr>
              <a:t>分工分化</a:t>
            </a:r>
            <a:endParaRPr lang="zh-CN" sz="2025" b="1">
              <a:solidFill>
                <a:srgbClr val="7FB8B4"/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6496050" y="2828925"/>
            <a:ext cx="4724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4F0E6"/>
                </a:solidFill>
                <a:latin typeface="微软雅黑" panose="020B0503020204020204" charset="-122"/>
                <a:ea typeface="微软雅黑" panose="020B0503020204020204" charset="-122"/>
              </a:rPr>
              <a:t>没有固定剧本，只有活生生的经济</a:t>
            </a:r>
            <a:endParaRPr lang="zh-CN" sz="1350" b="1">
              <a:solidFill>
                <a:srgbClr val="F4F0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496050" y="3276600"/>
            <a:ext cx="4724400" cy="990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F4F0E6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有人深耕农业、有人垄断工业、有人专做服务——互相依赖、互相抬价、互相卡脖子。每个人只需算好自己那本账，深度来自人与人的互动，而不是规则书的厚度。</a:t>
            </a:r>
            <a:endParaRPr lang="zh-CN" sz="1200">
              <a:solidFill>
                <a:srgbClr val="F4F0E6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267200" y="5553075"/>
            <a:ext cx="3657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4F0E6">
                    <a:alpha val="85000"/>
                  </a:srgbClr>
                </a:solidFill>
                <a:latin typeface="Georgia" panose="02040502050405020303"/>
                <a:ea typeface="Georgia" panose="02040502050405020303"/>
              </a:rPr>
              <a:t>把复杂留在引擎里，把判断</a:t>
            </a:r>
            <a:r>
              <a:rPr lang="zh-CN" sz="1800" b="1">
                <a:solidFill>
                  <a:srgbClr val="D9622B"/>
                </a:solidFill>
                <a:latin typeface="Georgia" panose="02040502050405020303"/>
                <a:ea typeface="Georgia" panose="02040502050405020303"/>
              </a:rPr>
              <a:t>留给你</a:t>
            </a:r>
            <a:r>
              <a:rPr lang="zh-CN" sz="1800" b="1">
                <a:solidFill>
                  <a:srgbClr val="F4F0E6">
                    <a:alpha val="85000"/>
                  </a:srgbClr>
                </a:solidFill>
                <a:latin typeface="Georgia" panose="02040502050405020303"/>
                <a:ea typeface="Georgia" panose="02040502050405020303"/>
              </a:rPr>
              <a:t>。</a:t>
            </a:r>
            <a:endParaRPr lang="zh-CN" sz="1800" b="1">
              <a:solidFill>
                <a:srgbClr val="F4F0E6">
                  <a:alpha val="85000"/>
                </a:srgbClr>
              </a:solidFill>
              <a:latin typeface="Georgia" panose="02040502050405020303"/>
              <a:ea typeface="Georgia" panose="02040502050405020303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533900" y="6210300"/>
            <a:ext cx="76200" cy="762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4705350" y="6162675"/>
            <a:ext cx="1438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F4F0E6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现场备有可玩</a:t>
            </a:r>
            <a:r>
              <a:rPr lang="en-US" sz="1050" spc="150">
                <a:solidFill>
                  <a:srgbClr val="F4F0E6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Demo</a:t>
            </a:r>
            <a:endParaRPr lang="en-US" sz="1050" spc="150">
              <a:solidFill>
                <a:srgbClr val="F4F0E6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429375" y="6210300"/>
            <a:ext cx="76200" cy="76200"/>
          </a:xfrm>
          <a:prstGeom prst="rect">
            <a:avLst/>
          </a:prstGeom>
          <a:solidFill>
            <a:srgbClr val="D9622B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600825" y="6162675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F4F0E6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欢迎上手试一季</a:t>
            </a:r>
            <a:endParaRPr lang="zh-CN" sz="1050" spc="150">
              <a:solidFill>
                <a:srgbClr val="F4F0E6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4067175" y="6505575"/>
            <a:ext cx="4067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40" spc="300">
                <a:solidFill>
                  <a:srgbClr val="F4F0E6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REGION SIM · </a:t>
            </a:r>
            <a:r>
              <a:rPr lang="zh-CN" sz="940" spc="300">
                <a:solidFill>
                  <a:srgbClr val="F4F0E6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区域发展模拟</a:t>
            </a:r>
            <a:r>
              <a:rPr lang="en-US" sz="940" spc="300">
                <a:solidFill>
                  <a:srgbClr val="F4F0E6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2026.10 · 11 / 11</a:t>
            </a:r>
            <a:endParaRPr lang="en-US" sz="940" spc="300">
              <a:solidFill>
                <a:srgbClr val="F4F0E6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2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3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4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5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6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7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ags/tag8.xml><?xml version="1.0" encoding="utf-8"?>
<p:tagLst xmlns:p="http://schemas.openxmlformats.org/presentationml/2006/main">
  <p:tag name="KSO_WM_DIAGRAM_VIRTUALLY_FRAME" val="{&quot;height&quot;:135.05,&quot;left&quot;:54,&quot;top&quot;:336,&quot;width&quot;:8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WPS 演示</Application>
  <PresentationFormat/>
  <Paragraphs>414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Georgia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贾乐萱</cp:lastModifiedBy>
  <cp:revision>6</cp:revision>
  <dcterms:created xsi:type="dcterms:W3CDTF">2026-10-18T06:11:00Z</dcterms:created>
  <dcterms:modified xsi:type="dcterms:W3CDTF">2026-10-18T07:38:30Z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{"AIGC":{"Label":"1","ContentProducer":"00119111010856365494821B355","ProduceID":"01a14d8ed1b67f62b4c5ceff5d1ee50f","ReservedCode1":"","ContentPropagator":"00119111010856365494821B355","PropagateID":"01a14d8ed1b67f62b4c5ceff5d1ee50f","ReservedCode2":""}}</vt:lpwstr>
  </property>
  <property fmtid="{D5CDD505-2E9C-101B-9397-08002B2CF9AE}" pid="3" name="ICV">
    <vt:lpwstr>5D2D4517C53949CF9D8F852D1A20E2D2_12</vt:lpwstr>
  </property>
  <property fmtid="{D5CDD505-2E9C-101B-9397-08002B2CF9AE}" pid="4" name="KSOProductBuildVer">
    <vt:lpwstr>2052-12.1.0.23542</vt:lpwstr>
  </property>
</Properties>
</file>